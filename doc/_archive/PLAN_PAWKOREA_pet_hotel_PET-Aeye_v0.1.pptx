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PLANNING DOC  ·  2026.10  ·  v0.1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0"/>
              </a:spcAft>
            </a:pPr>
            <a:r>
              <a:rPr sz="4600" b="1">
                <a:solidFill>
                  <a:srgbClr val="FF5B1F"/>
                </a:solidFill>
                <a:latin typeface="Malgun Gothic"/>
                <a:ea typeface="Malgun Gothic"/>
              </a:rPr>
              <a:t>× PET-Aeye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호텔에 담을 것 · 오픈까지 할 일 · PET-Aeye 연계 · SaaS 확장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맡기는 순간부터, 보이는 안심을. 영종에서 운영하고, 다른 펫호텔로 넓힙니다.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4개 타입 위탁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1동 4층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공사 완료 · 오픈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 AI 관제 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타 펫호텔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기획서가 다루는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목적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영종의 오픈·운영 계획과, 자체 AI 관제 PET-Aeye의 호텔 적용 · SaaS 확장 계획을 한 문서로 정리합니다.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범위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위탁형 펫호텔 1차(1동 4층 · 112실) · PET-Aeye 호텔 적용 · PET-Aeye SaaS</a:t>
            </a:r>
          </a:p>
          <a:p>
            <a:pPr algn="l">
              <a:spcAft>
                <a:spcPts val="1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제외: 동반숙박 · 장례 · 2차 개발(B1F·나동) 상세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전제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동물위탁관리업 등록 완료 · 1차 공사 완료 · PET-Aeye 관제 솔루션 운영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783080"/>
            <a:ext cx="13716" cy="42976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801368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호텔에 담을 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공간 · 객실 · 서비스 · 운영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2432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42616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해야 할 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오픈 준비 워크스트림 · 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65576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48386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연계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여정 · 카메라 · 이벤트 ·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3068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32511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SaaS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고객 · 패키지 · 제품 요건 · 로드맵 · 채널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14807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5166359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관리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지표 · 리스크 · 결정 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호텔 · PET-Aeye · SaaS는 하나의 흐름입니다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291840" cy="301752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호텔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112실 위탁 숙박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케어 · 스파 · 미용 · 샌딩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현장 운영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역할  매출 · 현장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175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3291840" cy="3017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AI 관제 · 안심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보고: 룸별 라이브 관제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알리고: 이상 행동 알림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요약: 일일 CareReport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434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역할  차별화 · 운영 효율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0175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1783080"/>
            <a:ext cx="3291840" cy="30175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타 시설 공급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7180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위탁형 펫호텔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유치원 · 데이케어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병원 입원실 · 훈련소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3434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역할  두 번째 매출원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074920"/>
            <a:ext cx="10908792" cy="914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5212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호텔은 PET-Aeye의 첫 고객이고, PET-Aeye는 호텔의 차별점입니다.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영종에서 다듬은 운영 방식을 제품에 그대로 담아 다른 시설에 공급합니다.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1 · 호텔에 담을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층별 공간과 추가로 갖출 운영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48463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피크닉 존 · 야외 테라스 · 정원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VIP 2타입 · 라운지 — 중대형 전용 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소형 52실 · 중형 34실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2타입 객실 · 라운지 · 펫 플레이존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상담/예약 · 스파 ·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휴식실 · 카페&amp;베이커리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원 사업계획서(리조이스) 평면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추가로 갖출 운영 공간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40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룸 그리드 모니터 · 야간 관제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69748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86207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격리실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입실 후 이상 증상 개체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3192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8386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급식 준비실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483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개체별 식단 · 특식 · 투약 준비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94106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10565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세탁 · 소독실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105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객실 회전 청소 · 침구 세탁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6285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비품 · 의약품 보관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727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응급 키트 · 투약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184648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이중문 · 출입 통제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5349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층별 탈출 방지 · 출입 기록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58064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589788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위치는 현장 실측 후 확정합니다.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1 · 호텔에 담을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객실 상품 — 4개 타입, 112실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실수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대상 (가정)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1박 요금 (가정)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79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52실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79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~7kg 소형견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79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79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(다실 1캠 검토)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15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07208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중형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34실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80720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7~15kg 중형견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0720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6.5만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07208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74136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22실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37413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15kg 이상 대형견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7413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9만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74136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· 우선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96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941063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패밀리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4실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41063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다견 가족 · VIP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41063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15만 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41063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1~2대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165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07992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50799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50799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약 6.6만 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507992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PET-Aeye 연결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4937760"/>
            <a:ext cx="10908792" cy="10515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19" y="507492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3F 26실(대형 · 패밀리)을 중대형 수요의 핵심 상품으로 둡니다.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약 13kg 이하 중심입니다. 가동률 30 · 45 · 60% 기준 연매출은 약 9.3 · 14.0 · 18.6억 원입니다(부가 15% 포함, 가정).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1 · 호텔에 담을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서비스 메뉴 — 기본 · 부가 ·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기본 위탁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급식 · 급수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하루 2회 이상 산책 · 놀이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배변 처리 · 객실 청소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 케어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케어 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ADD-ON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부가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스파 · 목욕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미용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특식 (SPECIAL PET FOOD)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투약 관리 · 데이케어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배정 룸 라이브 열람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CareReport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이상 시 보호자 알림 (선택)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퇴실 하이라이트 클립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Stay 이력 · 성향 기록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대표 패키지  ‘공항 안심 보딩’ = 숙박 + 공항 샌딩 · 픽업 + 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인스파이어 투숙객 숏스테이 · 영종 생활권 데이케어는 같은 구성에서 기간만 다르게 운영합니다.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1 · 호텔에 담을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운영 기준 — 입실 · 케어 · 인력 ·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입실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예방접종 증명 확인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건강 문진 · 기저질환 · 복용약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공격성 · 분리불안 체크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생리 · 발정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케어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식단 · 급여 시간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산책 · 놀이 일정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순찰과 PET-Aeye 관제 병행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케어 로그 기록 · 리포트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인력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20마리당 1명 이상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가동률 연동 근무표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야간 관제 담당 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정책 · 동의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이용 약관 · 취소 / 환불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응급 진료 동의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영상 촬영 · 열람 · 보존 고지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배상책임보험 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가동률 60%(하루 약 67마리)면 상시 최소 4명이 필요합니다. 근무표는 객실 판매 현황과 함께 짭니다.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해야 할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오픈 준비 — 8개 워크스트림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6565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할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1432" y="173736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8712" y="173736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담당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69164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시설 · 인프라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94560"/>
            <a:ext cx="656539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112실 · 복도 카메라 설치, 네트워크 · 녹화 스토리지, 관제실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194560"/>
            <a:ext cx="96012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8712" y="2194560"/>
            <a:ext cx="114300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시설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1518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06624"/>
            <a:ext cx="169164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인력 · 교육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706624"/>
            <a:ext cx="656539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케어 · 프런트 · 미용 · 드라이버 채용, PET-Aeye · 응급 대응 교육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706624"/>
            <a:ext cx="96012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D-60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8712" y="2706624"/>
            <a:ext cx="114300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272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18688"/>
            <a:ext cx="169164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운영 매뉴얼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218688"/>
            <a:ext cx="656539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/ 아웃 · 케어 · 응급 · 이벤트 대응 SOP 작성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3218688"/>
            <a:ext cx="96012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8712" y="3218688"/>
            <a:ext cx="114300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39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30752"/>
            <a:ext cx="169164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상품 · 가격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730752"/>
            <a:ext cx="656539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객실 요금표, 안심 서비스 요금 방식, 공항 패키지 확정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3730752"/>
            <a:ext cx="96012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8712" y="3730752"/>
            <a:ext cx="114300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1513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242816"/>
            <a:ext cx="169164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정책 · 법무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242816"/>
            <a:ext cx="656539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이용 약관, 동의서, 영상 개인정보 고지, 배상책임보험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1432" y="4242816"/>
            <a:ext cx="96012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68712" y="4242816"/>
            <a:ext cx="114300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6634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54880"/>
            <a:ext cx="169164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예약 · 결제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754880"/>
            <a:ext cx="656539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 채널 개설, 예약 → PET-Aeye Stay 연동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4754880"/>
            <a:ext cx="96012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D-30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2" y="4754880"/>
            <a:ext cx="114300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기획 · 개발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1755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66944"/>
            <a:ext cx="169164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PET-Aeye 세팅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5266944"/>
            <a:ext cx="656539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· 카메라 매핑, 알림 규칙 조정, 리포트 템플릿, 리허설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1432" y="5266944"/>
            <a:ext cx="96012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D-21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68712" y="5266944"/>
            <a:ext cx="114300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개발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6875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9008"/>
            <a:ext cx="169164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마케팅 · 제휴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779008"/>
            <a:ext cx="656539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사전 마케팅, 여행사 · 카드사 · 숙박 앱 · 호텔 제휴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1432" y="5779008"/>
            <a:ext cx="96012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D-30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68712" y="5779008"/>
            <a:ext cx="114300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마케팅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61996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해야 할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오픈 전 60일, 오픈 후 90일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743200"/>
            <a:ext cx="101498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64261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965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D-60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154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착수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3611880"/>
            <a:ext cx="1645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카메라 · 네트워크 설치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인력 채용 시작</a:t>
            </a:r>
          </a:p>
        </p:txBody>
      </p:sp>
      <p:sp>
        <p:nvSpPr>
          <p:cNvPr id="11" name="Oval 10"/>
          <p:cNvSpPr/>
          <p:nvPr/>
        </p:nvSpPr>
        <p:spPr>
          <a:xfrm>
            <a:off x="2587752" y="264261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1965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154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기준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3611880"/>
            <a:ext cx="1645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SOP · 요금 · 약관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동의서 확정</a:t>
            </a:r>
          </a:p>
        </p:txBody>
      </p:sp>
      <p:sp>
        <p:nvSpPr>
          <p:cNvPr id="15" name="Oval 14"/>
          <p:cNvSpPr/>
          <p:nvPr/>
        </p:nvSpPr>
        <p:spPr>
          <a:xfrm>
            <a:off x="4279392" y="264261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965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D-30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154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예약 오픈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611880"/>
            <a:ext cx="1645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예약 채널 · Stay 연동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사전 마케팅</a:t>
            </a:r>
          </a:p>
        </p:txBody>
      </p:sp>
      <p:sp>
        <p:nvSpPr>
          <p:cNvPr id="19" name="Oval 18"/>
          <p:cNvSpPr/>
          <p:nvPr/>
        </p:nvSpPr>
        <p:spPr>
          <a:xfrm>
            <a:off x="5971032" y="264261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965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D-14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54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리허설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611880"/>
            <a:ext cx="1645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 객실 관제 점검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교육 완료</a:t>
            </a:r>
          </a:p>
        </p:txBody>
      </p:sp>
      <p:sp>
        <p:nvSpPr>
          <p:cNvPr id="23" name="Oval 22"/>
          <p:cNvSpPr/>
          <p:nvPr/>
        </p:nvSpPr>
        <p:spPr>
          <a:xfrm>
            <a:off x="7580375" y="2560320"/>
            <a:ext cx="384048" cy="384048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965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D-0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154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그랜드 오픈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11880"/>
            <a:ext cx="1645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공항 안심 보딩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판매 시작</a:t>
            </a:r>
          </a:p>
        </p:txBody>
      </p:sp>
      <p:sp>
        <p:nvSpPr>
          <p:cNvPr id="27" name="Oval 26"/>
          <p:cNvSpPr/>
          <p:nvPr/>
        </p:nvSpPr>
        <p:spPr>
          <a:xfrm>
            <a:off x="9354312" y="264261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1965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D+30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154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첫 리뷰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611880"/>
            <a:ext cx="1645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가동률 · 알림 품질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SOP 수정</a:t>
            </a:r>
          </a:p>
        </p:txBody>
      </p:sp>
      <p:sp>
        <p:nvSpPr>
          <p:cNvPr id="31" name="Oval 30"/>
          <p:cNvSpPr/>
          <p:nvPr/>
        </p:nvSpPr>
        <p:spPr>
          <a:xfrm>
            <a:off x="11045952" y="264261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9" y="1965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D+90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9" y="315468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정착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9" y="3611880"/>
            <a:ext cx="1645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서비스 요금 확정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SaaS 파일럿 후보 선정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92040"/>
            <a:ext cx="10908792" cy="10972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19" y="5047488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오픈 조건: 전 객실 카메라 연결 · SOP 교육 완료 · 예약 → Stay 연동 확인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D-14 리허설에서 세 가지를 모두 확인한 뒤 오픈합니다.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PET-Aeye — 보고, 알리고, 요약합니다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 · 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사업계획의 '24시간 CHECKING SYSTEM'을 사람의 순찰과 PET-Aeye가 함께 맡습니다.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스태프용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112실 룸 그리드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AI 검출 · 추적 · 행동 라벨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이상 행동 알림 · PTZ 자동 추적 · 녹화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보호자용 안심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77639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기간 한정 링크로 배정 룸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Stay 단위 일일 CareReport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퇴실 후 하이라이트 클립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구성: RTSP 수신 · 녹화 · YOLO + ByteTrack · 이벤트 DB · 실시간 WebSocket · 관리자 웹 · 보호자 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관제 화면 — 112실을 한 화면에서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477760" cy="4206240"/>
          </a:xfrm>
          <a:prstGeom prst="rect">
            <a:avLst/>
          </a:prstGeom>
          <a:ln w="9525">
            <a:solidFill>
              <a:srgbClr val="D9D5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66760" y="187451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라이브를 한 화면에서 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269747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83463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AI 검출 오버레이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 · 행동 · 신뢰도를 실시간 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59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이상 감지 강조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확인 필요한 객실만 눈에 띄게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617720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548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실시간 이벤트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알림 로그 자동 기록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스태프 앱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292031" cy="4663440"/>
          </a:xfrm>
          <a:prstGeom prst="rect">
            <a:avLst/>
          </a:prstGeom>
        </p:spPr>
      </p:pic>
      <p:pic>
        <p:nvPicPr>
          <p:cNvPr id="7" name="Picture 6" descr="out_guardia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29203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182880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스태프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확인 필요 알림을 가장 위에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객실만 빠르게 판단합니다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객실 라이브 + AI 오버레이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화면에서 바로 확인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번의 조작으로 처리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담당 층 할 일 · 케어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28800"/>
            <a:ext cx="2788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보호자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배정 객실만 실시간 열람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전체 시설이 아닌 내 반려견 방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요약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하루 활동을 짧은 영상으로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기간 한정 안심 링크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체크아웃까지 열리고 자동 만료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고객 여정마다 PET-Aeye가 붙는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호텔 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3794760"/>
            <a:ext cx="958291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타입 · 기간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옵션 접수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사전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건강 문진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동의서 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· 카메라 배정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링크 발송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3112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1704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투숙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704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급식 · 산책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청소 · 순찰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1704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264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매일 저녁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케어 메모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CareReport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자동 생성 · 발송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6008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6008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인계 · 결제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6008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만료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4568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316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재방문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316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이력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성향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기록은 Stay(위탁 1건)에 묶여, 호텔 업무 단위와 PET-Aeye 데이터 단위가 같아집니다.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배치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수량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 · 중형 객실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94560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86실 · 객실당 1대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위탁 본체 관제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 · 패밀리 객실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61488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6148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26실 · 객실당 1대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61488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중대형 관제 · 우선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761488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28416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라운지 · 플레이존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28416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2841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 (PTZ)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28416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시간 관찰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328416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95344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복도 · 이중문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895344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895344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출입구별 1대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895344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탈출 방지 · 보안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95344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62272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프런트 · 스파 · 미용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462272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46227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462272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· 서비스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62272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선택 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함께 갖출 인프라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PoE 스위치 · 녹화 스토리지(보존 기간에 맞춰 용량 산정) · 관제실 모니터 · 이중화된 인터넷 회선 · 정전 대비 UPS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최종 수량은 현장 실측과 화각 테스트 후 확정합니다.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이벤트가 생기면 누가 무엇을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 액션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장시간 무움직임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현장 확인 · 필요 시 병원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기재 · 선택 시 알림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과도한 반복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61488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· 놀이 추가 · 성향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일일 리포트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6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비인가 인원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28416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보안 점검 · 출입 기록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28416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카메라 연결 끊김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95344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즉시 점검 · 대체 순찰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95344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2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Stay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462272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 만료 · 영상 보존 정책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62272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제공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" y="5120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알림은 정확도가 확인된 규칙부터 켭니다.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 공유합니다. 규칙과 기준값은 오픈 후 30일 데이터로 조정합니다.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데이터는 Stay 하나로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· 반려견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Stay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위탁 1건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Room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영상 ·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행동 ·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CareReport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일일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Link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열람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때 스태프가 반려견과 카메라 트랙을 연결합니다.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이후 이벤트 · 리포트 · 열람 기록이 모두 같은 Stay에 쌓입니다.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83080"/>
            <a:ext cx="13716" cy="420624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호텔 시스템과 엮는 연동 작업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24028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예약 → Stay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채널 확정 건으로 Stay 자동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8620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9718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체크리스트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배변 기록을 이벤트와 함께 저장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59359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7033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구역(Zone) 규칙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급식대 · 문 앞 등 구역별 알림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32511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43484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열람 감사 로그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 · 스태프 영상 열람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05663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1663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결제 → 옵션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서비스 결제 시 보호자 링크 활성화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578815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SaaS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Malgun Gothic"/>
                <a:ea typeface="Malgun Gothic"/>
              </a:rPr>
              <a:t>영종은 PET-Aeye의 첫 고객이자 쇼룸입니다.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호텔에서 다듬은 운영 방식을 제품으로 만들어 다른 시설에 공급합니다.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1828800" cy="73152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영종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4279392"/>
            <a:ext cx="438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9A9A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1" y="4114800"/>
            <a:ext cx="1828800" cy="73152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1" y="411480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운영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4279392"/>
            <a:ext cx="438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9A9A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75504" y="4114800"/>
            <a:ext cx="1828800" cy="73152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411480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제품 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4279392"/>
            <a:ext cx="438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9A9A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5" y="4114800"/>
            <a:ext cx="1828800" cy="73152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5" y="411480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운영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5" y="4279392"/>
            <a:ext cx="438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9A9A9A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10928" y="4114800"/>
            <a:ext cx="1828800" cy="73152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0928" y="411480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외부 판매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9A9A"/>
                </a:solidFill>
                <a:latin typeface="Malgun Gothic"/>
                <a:ea typeface="Malgun Gothic"/>
              </a:rPr>
              <a:t>외부 고객이 쓰는 기능은 영종 현장에서 먼저 씁니다. 영종에서 쓰지 않는 기능은 팔지 않습니다.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9A9A9A"/>
                </a:solidFill>
                <a:latin typeface="Malgun Gothic"/>
                <a:ea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SaaS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타깃 고객 — 반려견을 맡아 두는 모든 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위탁형 펫호텔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문의 응대 부담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야간 관제 인력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1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1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1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유치원 · 데이케어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1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등원 중 보호자 확인 요구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· 사회화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1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1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동물병원 입원실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입원견 상태 관찰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면회 대체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Basic → Plus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976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 훈련소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장기 위탁 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훈련 진행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첫 판매 대상은 영종과 운영 방식이 같은 위탁형 펫호텔입니다. 나머지는 파일럿 결과를 보고 순서를 정합니다.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SaaS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패키지 구성 — Basic · Plus ·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74720" cy="34290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스태프 관제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카메라 등록 · 룸 매핑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룸 그리드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AI 검출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녹화 · 보관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스태프 알림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74720" cy="34290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보호자 안심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Basic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관리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보호자 기간 한정 링크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일일 CareReport · 하이라이트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시설 로고 · 이름 표시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74720" cy="3429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다지점 ·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Plus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다지점 통합 관제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예약 시스템 API · 웹훅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권한 · 열람 감사 로그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전담 온보딩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과금(안)  객실(카메라) 수 기준 월 구독 + 설치 · 온보딩 1회 비용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단가는 영종 운영 원가(영상 저장 · AI 연산 · 회선)를 확인한 뒤 정합니다.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SaaS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다른 시설에 팔기 위해 갖출 제품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멀티테넌트 · 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시설별 데이터 분리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운영자 · 매니저 · 스태프 · 보호자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온보딩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자동 검색(ONVIF)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룸 매핑 마법사 · 설치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클라우드 기본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회선이 약한 시설은 현장 엣지 장비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과금 · 계측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· Stay 사용량 집계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구독 결제 · 청구서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보안 · 개인정보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영상 열람 기록 · 보존 기간 설정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개인정보 처리위탁 계약 양식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운영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끊김 감지 · 원격 점검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무중단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영종 운영 기간(S0)에는 단일 시설로 쓰고, 파일럿(S1)부터 멀티테넌트 구조로 전환합니다.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SaaS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SaaS 로드맵 — 단계마다 확인하고 넘어갑니다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오픈~6개월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S0 · 영종 내부 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전 객실 가동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알림 규칙 · 리포트 다듬기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운영 원가 측정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606040" cy="548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2423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안정 가동 · 보호자 열람률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6~12개월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S1 · 파일럿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외부 시설 2~3곳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온보딩 도구 · 멀티테넌트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운영 사례 정리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606040" cy="548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846320"/>
            <a:ext cx="2423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파일럿 유지 · 유료 의향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S2 · 정식 판매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요금제 확정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설치 파트너 확보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고객 지원 체계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606040" cy="548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846320"/>
            <a:ext cx="2423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유료 시설 수 · 이탈률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S3 · 채널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플랫폼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유치원 · 병원 패키지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다지점 고객 확보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606040" cy="548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3999" y="4846320"/>
            <a:ext cx="2423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파트너 유입 비중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S0 기간에는 호텔 운영을 우선합니다. SaaS 전용 기능 개발은 S1부터 시작합니다.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SaaS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영업 채널과 준비물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채널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73736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준비물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05740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직접 영업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194560"/>
            <a:ext cx="49834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수도권 · 공항 권역 펫호텔 방문, 영종 견학 · 라이브 데모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94560"/>
            <a:ext cx="3456432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데모 계정 · 운영 사례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431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34639"/>
            <a:ext cx="205740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설치 파트너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834639"/>
            <a:ext cx="49834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CCTV 시공 업체와 제휴, 설치 시 PET-Aeye 함께 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834639"/>
            <a:ext cx="3456432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설치 가이드 · 파트너 수수료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832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205740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업계 행사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3474720"/>
            <a:ext cx="49834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반려동물 박람회 · 업계 단체 세미나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474720"/>
            <a:ext cx="3456432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부스 데모 · 소개서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233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205740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연동 제휴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39" y="4114800"/>
            <a:ext cx="49834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예약 · 결제 플랫폼과 연동, 앱 마켓 입점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114800"/>
            <a:ext cx="3456432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API 문서 · 연동 가이드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634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709160"/>
            <a:ext cx="10908792" cy="12801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4864608"/>
            <a:ext cx="10332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가장 강한 영업 도구는 영종 현장입니다.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실제 객실 그리드 · 보호자 리포트 · 운영 지표를 그대로 보여드립니다. 보호자 동의를 받은 화면만 사용합니다.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5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타입별 가동률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객단가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재이용률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유입 비중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부가 매출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안 PET-Aeye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링크 열람률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열람률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안심 서비스 선택률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알림 정확도 (오탐률)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SaaS 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활성 시설 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연결 카메라 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월 반복 매출 (MRR)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이탈률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온보딩 소요일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19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D+30 첫 리뷰에서 실제 데이터를 보고 정합니다.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5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리스크와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112실 초기 가동률 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고정비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 중대형 · 공항 패키지 우선 판매, 층별 단계 운영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알림 오탐 · 과알림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52928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피로 · 신뢰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검증된 규칙만 사용, 스태프 확인 후 공유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개인정보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11296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민원 · 법적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11296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고지 · 동의, 배정 룸만 열람, 열람 기록 · 보존 기간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네트워크 · 카메라 장애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9663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관제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9663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끊김 알림, 대체 순찰 SOP, 현장 녹화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온보딩 비용 과다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28031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확장 속도 저하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1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설치 파트너, 자동 검색 · 매핑 도구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호텔 운영과 SaaS 개발의 자원 충돌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86399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둘 다 지연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399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S0에는 호텔 운영 우선, SaaS 기능은 S1부터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5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결정이 필요한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73736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선택지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3736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결정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 서비스 요금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94560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기본 포함  /  1박당 부가  /  대형 · 패밀리만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94560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52928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링크형 웹  /  전용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52928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라이브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511296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상시 라이브  /  정해진 시간 · 하이라이트 위주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511296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보존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169663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7일  /  30일  /  Stay 종료 후 일정 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169663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배포 방식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4828031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클라우드 우선  /  현장 엣지 장비 우선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828031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S1 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브랜드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5486399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PET-Aeye 단독  /  파우코리아 공동 표기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486399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S1 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사업계획서(구칭 리조이스 · PETEL 영종) — 객실 구성 · 층별 평면 · 2차 계획 · 마케팅 계획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 · 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 · FAQ — 반려동물 입실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 · 수요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KB금융지주 경영연구소 — 펫테크 기기 사용 이유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 문서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펫호텔_기능맵_초안.md — PET-Aeye 기능 · 화면 · API 상세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프로젝트_범위_확장_초안.md — 전체 사업 범위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IR_PAWKOREA_pet_hotel_yeongjong_v0.4.pptx — 투자 설명용 자료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요금 · 체중 기준 · 일정은 가정입니다. 현장 실측과 운영 데이터로 갱신합니다.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