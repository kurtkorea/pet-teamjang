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PLANNING DOC  ·  2026.10  ·  v0.1  ·  PoC · 로드맵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141414"/>
                </a:solidFill>
                <a:latin typeface="Malgun Gothic"/>
                <a:ea typeface="Malgun Gothic"/>
              </a:rPr>
              <a:t>보이는 안심에서,</a:t>
            </a:r>
          </a:p>
          <a:p>
            <a:pPr algn="l">
              <a:spcAft>
                <a:spcPts val="0"/>
              </a:spcAft>
            </a:pPr>
            <a:r>
              <a:rPr sz="4600" b="1">
                <a:solidFill>
                  <a:srgbClr val="FF5B1F"/>
                </a:solidFill>
                <a:latin typeface="Malgun Gothic"/>
                <a:ea typeface="Malgun Gothic"/>
              </a:rPr>
              <a:t>느껴지는 안심으로.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PET-Aeye × WaveDyne FMCW 라이다 — 비접촉 바이탈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CCTV에 라이다 반도체를 결합해, 영상 없이도 호흡·활동·수면을 읽고 보호자 리포트에 담습니다.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6D 센싱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거리·속도·재질 동시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μm급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미세 변위 → 호흡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영상 아님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거리·속도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야간 OK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빛 없어도 동작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카메라가 못 보는 곳을, 라이다가 채웁니다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× WaveDyne · 라이다 비접촉 바이탈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285232" cy="4114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 PET-Aeye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카메라 + AI 행동 검출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무엇을 하고 있는지 '봅니다'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한계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소등된 야간에는 약합니다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거리·속도 같은 물리량은 직접 못 읽습니다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 노출에 민감한 보호자가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더하는 것 · FMCW 라이다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거리·속도·3D 비접촉 센싱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'괜찮은 상태인지'를 느낍니다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강점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빛이 없어도 호흡·재실 확인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μm급 변위로 미세 움직임 포착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영상이 아닌 데이터 → 프라이버시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TECHNOLOGY · WaveDyne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검증된 반도체 기술 위에 올립니다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× WaveDyne · 라이다 비접촉 바이탈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WD-FMCW 4세대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거리·속도·재질 동시 (6D)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μm급 · 1,000만 포인트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솔리드스테이트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KTN + 메타렌즈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기계 구동부 0 · 소형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카메라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LiDAR + Camera Fusion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멀티모달 AI SoC 내장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가격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양산 목표 50만원/대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AEVA 대비 약 1/52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691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38912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일정 전제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반도체 3종 FAB-in 2026.12 → First Silicon 2027.03 → FMCW 라이다 실증.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따라서 바이탈은 '지금 운영 기능'이 아니라 WaveDyne 일정에 맞춘 PoC·로드맵입니다.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출처: 웨이브다인 IR 2026.09.21 (공개 자료)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PROOF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이미 '생명체'를 센서로 돌보고 있습니다 — 스마트 벌통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× WaveDyne · 라이다 비접촉 바이탈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2004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환경 센서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벌통 내부 데이터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06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2004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200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엣지 AI 분석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초저전력 온디바이스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06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2194560"/>
            <a:ext cx="3200400" cy="118872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194560"/>
            <a:ext cx="3200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최적 환경·노동 절감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C9B3"/>
                </a:solidFill>
                <a:latin typeface="Malgun Gothic"/>
                <a:ea typeface="Malgun Gothic"/>
              </a:rPr>
              <a:t>꿀벌 성장 최적화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39"/>
            <a:ext cx="10908792" cy="1874519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160520"/>
            <a:ext cx="103327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무엇을 증명하나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WaveDyne은 '센서 → 생체 상태 해석 → 환경/알림'을 자체 칩으로 매출 단계까지 올린 경험이 있습니다.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대상만 꿀벌 → 반려견으로 바뀝니다. 벌통 환경 최적화 = 객실 환경 최적화 + 개체 바이탈 모니터링.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근거: IR p15 스마트 벌통 AI(매출 0.7억·26.11 납품) · p25 '자체 칩 적용 예정' · p27 벌통 내부 환경 분석 · 1호 파트너 대동(정밀농업)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WHAT WE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비접촉으로 읽는 개체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× WaveDyne · 라이다 비접촉 바이탈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도입 단계 · 신뢰도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호흡수 · 호흡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흉곽 미세 변위(μm)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미동 · 활동량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순간 속도(도플러)로 움직임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재실 · 자세 · 낙상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포인트 위치·높이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수면 · 휴식 깊이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8620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호흡·미동의 규칙성 추정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체형 · 대략 체중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스캔 부피 추정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중간(보정)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심박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미세 진동 성분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 후 · 조건부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406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의료 진단이 아니라 '웰니스·안심' 지표로 포지셔닝합니다. 이상 소견은 수의 상담 권유로 연결합니다.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FORM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CCTV + 라이다 융합 센서 한 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× WaveDyne · 라이다 비접촉 바이탈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카메라 모듈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영상 · AI 행동 검출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현재 PET-Aeye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291840" cy="22860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WaveDyne 라이다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거리 · 속도 · 3D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C9B3"/>
                </a:solidFill>
                <a:latin typeface="Malgun Gothic"/>
                <a:ea typeface="Malgun Gothic"/>
              </a:rPr>
              <a:t>호흡·미동·재실·낙상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920240"/>
            <a:ext cx="329184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엣지 AI 퓨전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센서 융합 → 상태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Malgun Gothic"/>
                <a:ea typeface="Malgun Gothic"/>
              </a:rPr>
              <a:t>WaveDyne 멀티모달 SoC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1실 1센서 · 기존 PET-Aeye 네트워크(관제실·녹화·관리자 웹)에 바이탈 채널만 추가합니다.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우선 적용: 3F 중대형·패밀리 26실, 격리실·노령견 객실부터. WaveDyne의 카메라 융합 전략과도 일치합니다.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GUARDIAN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리포트에 바이탈을 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× WaveDyne · 라이다 비접촉 바이탈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리포트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추가 (라이다)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79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횟수·거리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시간대별 활동량 그래프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98648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낮잠·야간 숙면(정성)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898648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호흡수 추이 · 수면 안정도(정량)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655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57015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57015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 급변 · 장시간 무미동 · 낙상 조기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23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15383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15383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'오늘 호흡·휴식 안정' 상태 한 줄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82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알림은 고신뢰 규칙부터 켭니다.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예: 재실 중 장시간 무미동 + 호흡 패턴 이상 동시 충족 → 스태프 확인 후 보호자 공유.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EXPANSION · 호텔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센서로 호텔이 더 할 수 있는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× WaveDyne · 라이다 비접촉 바이탈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892808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7" y="182880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시니어·메디컬 객실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노령·만성질환견 상시 모니터링</a:t>
            </a:r>
          </a:p>
        </p:txBody>
      </p:sp>
      <p:sp>
        <p:nvSpPr>
          <p:cNvPr id="8" name="Oval 7"/>
          <p:cNvSpPr/>
          <p:nvPr/>
        </p:nvSpPr>
        <p:spPr>
          <a:xfrm>
            <a:off x="4370832" y="1892808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82880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야간·사각 보완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소등 후 호흡·재실, 침대 밑 사각</a:t>
            </a:r>
          </a:p>
        </p:txBody>
      </p:sp>
      <p:sp>
        <p:nvSpPr>
          <p:cNvPr id="10" name="Oval 9"/>
          <p:cNvSpPr/>
          <p:nvPr/>
        </p:nvSpPr>
        <p:spPr>
          <a:xfrm>
            <a:off x="8074151" y="1892808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7" y="182880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낙상·발작 조기경보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자세 급변 + 미동 이상 포착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" y="3310128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24612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객실 환경 최적화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온습도·소음과 바이탈 상관 학습(벌통 응용)</a:t>
            </a:r>
          </a:p>
        </p:txBody>
      </p:sp>
      <p:sp>
        <p:nvSpPr>
          <p:cNvPr id="14" name="Oval 13"/>
          <p:cNvSpPr/>
          <p:nvPr/>
        </p:nvSpPr>
        <p:spPr>
          <a:xfrm>
            <a:off x="4370832" y="3310128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324612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3D 체형·체중 기록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입·퇴실 비접촉 기록 · 분쟁 예방</a:t>
            </a:r>
          </a:p>
        </p:txBody>
      </p:sp>
      <p:sp>
        <p:nvSpPr>
          <p:cNvPr id="16" name="Oval 15"/>
          <p:cNvSpPr/>
          <p:nvPr/>
        </p:nvSpPr>
        <p:spPr>
          <a:xfrm>
            <a:off x="8074151" y="3310128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7" y="324612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분리불안 정량화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활동·호흡 변동성으로 스트레스 지표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46320"/>
            <a:ext cx="10908792" cy="10515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01091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나동 동물병원(2차)과 결합하면 입원견 비접촉 모니터링으로 면회를 대체할 수 있습니다.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고령·의료 수요는 프리미엄 단가로 이어져, 객실 차별화의 축이 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EXPANSION · SaaS ·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제품과 데이터로 넓힙니다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× WaveDyne · 라이다 비접촉 바이탈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74720" cy="33832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Vital 티어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SaaS 상위 플랜 신설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(Basic · Plus · Pro 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51960"/>
            <a:ext cx="2926080" cy="13716"/>
          </a:xfrm>
          <a:prstGeom prst="rect">
            <a:avLst/>
          </a:prstGeom>
          <a:solidFill>
            <a:srgbClr val="FFC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C9B3"/>
                </a:solidFill>
                <a:latin typeface="Malgun Gothic"/>
                <a:ea typeface="Malgun Gothic"/>
              </a:rPr>
              <a:t>하드웨어(융합 센서) + 바이탈 리포트 번들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347472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데이터 자산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918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품종·연령·체격별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정상 바이탈 베이스라인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4251960"/>
            <a:ext cx="29260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3891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이상 탐지 정확도↑ · 펫보험·병원 제휴 근거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828800"/>
            <a:ext cx="347472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하드웨어 공급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918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WaveDyne 부품·IP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PET-Aeye 응용·운영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251960"/>
            <a:ext cx="29260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3891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양산 판가(목표 50만원/대) 전제 센서 공급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WaveDyne 일정에 맞춰 단계로 검증합니다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× WaveDyne · 라이다 비접촉 바이탈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P0 · PoC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측정 항목·리포트 정의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1실 실증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WaveDyne  First Silicon 2027.03 전후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P1 · 단일 객실 실증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호흡·활동·재실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반려견 대상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WaveDyne  FMCW 라이다 실증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P2 · 융합 폼팩터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CCTV+라이다 센서 제작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3F·격리실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WaveDyne  반도체 3종 양산 셋업</a:t>
            </a:r>
          </a:p>
        </p:txBody>
      </p:sp>
      <p:sp>
        <p:nvSpPr>
          <p:cNvPr id="22" name="Oval 21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39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P3 · 상품화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바이탈 CareReport 정식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SaaS Vital 티어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39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WaveDyne  양산 판가 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유의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반려견은 털·체격·품종 편차가 커 검증이 더 필요합니다. 심박은 검증 후 조건부. 의료기기 아님 — 웰니스 지표로 포지셔닝.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</a:rPr>
              <a:t>영상으로 보던 안심을,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호흡과 심박으로 느끼게 합니다.</a:t>
            </a:r>
          </a:p>
        </p:txBody>
      </p:sp>
      <p:sp>
        <p:nvSpPr>
          <p:cNvPr id="4" name="Oval 3"/>
          <p:cNvSpPr/>
          <p:nvPr/>
        </p:nvSpPr>
        <p:spPr>
          <a:xfrm>
            <a:off x="676656" y="39684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9319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CCTV에 WaveDyne FMCW 라이다를 결합한 융합 센서</a:t>
            </a:r>
          </a:p>
        </p:txBody>
      </p:sp>
      <p:sp>
        <p:nvSpPr>
          <p:cNvPr id="6" name="Oval 5"/>
          <p:cNvSpPr/>
          <p:nvPr/>
        </p:nvSpPr>
        <p:spPr>
          <a:xfrm>
            <a:off x="676656" y="4535424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9884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영상 없이 호흡·활동·수면·낙상을 비접촉으로 — 야간·프라이버시 강점</a:t>
            </a:r>
          </a:p>
        </p:txBody>
      </p:sp>
      <p:sp>
        <p:nvSpPr>
          <p:cNvPr id="8" name="Oval 7"/>
          <p:cNvSpPr/>
          <p:nvPr/>
        </p:nvSpPr>
        <p:spPr>
          <a:xfrm>
            <a:off x="676656" y="5102352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06577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보호자 CareReport에 개체 바이탈 섹션 추가</a:t>
            </a:r>
          </a:p>
        </p:txBody>
      </p:sp>
      <p:sp>
        <p:nvSpPr>
          <p:cNvPr id="10" name="Oval 9"/>
          <p:cNvSpPr/>
          <p:nvPr/>
        </p:nvSpPr>
        <p:spPr>
          <a:xfrm>
            <a:off x="676656" y="5669280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시니어·메디컬·환경 최적화·SaaS Vital 티어로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9A9A9A"/>
                </a:solidFill>
                <a:latin typeface="Malgun Gothic"/>
                <a:ea typeface="Malgun Gothi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