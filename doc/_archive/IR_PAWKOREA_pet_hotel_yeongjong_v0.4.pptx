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가동률 30%</c:v>
                </c:pt>
                <c:pt idx="1">
                  <c:v>45%</c:v>
                </c:pt>
                <c:pt idx="2">
                  <c:v>60%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9.3</c:v>
                </c:pt>
                <c:pt idx="1">
                  <c:v>14.0</c:v>
                </c:pt>
                <c:pt idx="2">
                  <c:v>18.6</c:v>
                </c:pt>
              </c:numCache>
            </c:numRef>
          </c:val>
        </c:ser>
        <c:dLbls>
          <c:numFmt formatCode="0.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INVESTOR BRIEF  ·  2026.10  ·  v0.4  ·  논의용 초안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41414"/>
                </a:solidFill>
                <a:latin typeface="Malgun Gothic"/>
                <a:ea typeface="Malgun Gothic"/>
              </a:rPr>
              <a:t>맡기는 순간부터,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보이는 안심을.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algun Gothic"/>
                <a:ea typeface="Malgun Gothic"/>
              </a:rPr>
              <a:t>공사를 마친 영종 위탁형 펫호텔과 자체 AI 관제 PET-Aeye를 함께 운영합니다.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15분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인천공항까지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공사 완료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1차 1동 4층 · 약 370평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반려동물 입실이 어려운 인스파이어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FLAGSHIP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‘공항 안심 보딩’ — 보호자의 여행 하루를 돕습니다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101498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룸 타입·체중 선택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옵션 추가</a:t>
            </a:r>
          </a:p>
        </p:txBody>
      </p:sp>
      <p:sp>
        <p:nvSpPr>
          <p:cNvPr id="11" name="Oval 10"/>
          <p:cNvSpPr/>
          <p:nvPr/>
        </p:nvSpPr>
        <p:spPr>
          <a:xfrm>
            <a:off x="2916936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1층 프런트·상담실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주차 후 입실</a:t>
            </a:r>
          </a:p>
        </p:txBody>
      </p:sp>
      <p:sp>
        <p:nvSpPr>
          <p:cNvPr id="15" name="Oval 14"/>
          <p:cNvSpPr/>
          <p:nvPr/>
        </p:nvSpPr>
        <p:spPr>
          <a:xfrm>
            <a:off x="4946903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5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5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샌딩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5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공항까지 약 15분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자체 차량(검토)</a:t>
            </a:r>
          </a:p>
        </p:txBody>
      </p:sp>
      <p:sp>
        <p:nvSpPr>
          <p:cNvPr id="19" name="Oval 18"/>
          <p:cNvSpPr/>
          <p:nvPr/>
        </p:nvSpPr>
        <p:spPr>
          <a:xfrm>
            <a:off x="6903720" y="2560320"/>
            <a:ext cx="384048" cy="384048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여행 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보이는 안심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배정 룸 라이브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매일 AI 리포트</a:t>
            </a:r>
          </a:p>
        </p:txBody>
      </p:sp>
      <p:sp>
        <p:nvSpPr>
          <p:cNvPr id="23" name="Oval 22"/>
          <p:cNvSpPr/>
          <p:nvPr/>
        </p:nvSpPr>
        <p:spPr>
          <a:xfrm>
            <a:off x="9006839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귀국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픽업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공항 또는 시설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수령</a:t>
            </a:r>
          </a:p>
        </p:txBody>
      </p:sp>
      <p:sp>
        <p:nvSpPr>
          <p:cNvPr id="27" name="Oval 26"/>
          <p:cNvSpPr/>
          <p:nvPr/>
        </p:nvSpPr>
        <p:spPr>
          <a:xfrm>
            <a:off x="11036807" y="2633472"/>
            <a:ext cx="237744" cy="237744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79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D+1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79" y="31546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79" y="36118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투숙 요약 클립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920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19" y="50749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공식 공항 카운터와 경쟁하지 않고, 보완하는 선택지가 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샌딩 · 중대형 수용 · PET-Aeye 안심 리포트로, 공식 채널이 담기 어려운 보호자를 돕습니다.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</a:rPr>
              <a:t>객실은 다른 곳에도 있습니다.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5B1F"/>
                </a:solidFill>
                <a:latin typeface="Malgun Gothic"/>
                <a:ea typeface="Malgun Gothic"/>
              </a:rPr>
              <a:t>저희는 '지금 괜찮다'는 확신을 함께 드립니다.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A9A9A"/>
                </a:solidFill>
                <a:latin typeface="Malgun Gothic"/>
                <a:ea typeface="Malgun Gothic"/>
              </a:rPr>
              <a:t>KB금융지주 경영연구소 조사에서 펫테크 기기를 쓰는 첫 번째 이유는 '혼자 두고 외출할 때의 걱정 감소'였고,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Malgun Gothic"/>
                <a:ea typeface="Malgun Gothic"/>
              </a:rPr>
              <a:t>모니터링 CCTV·카메라는 사용 기기 중 약 23%를 차지했습니다. PET-Aeye는 이 걱정을 숙박 중에도 덜어드립니다.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9A9A9A"/>
                </a:solidFill>
                <a:latin typeface="Malgun Gothic"/>
                <a:ea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요약하는 자체 AI 관제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무움직임·이상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AI 관제가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관제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라벨(서기·걷기·눕기 등)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우선 알림 · PTZ 자동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 열람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수신·녹화 · YOLO + ByteTrack · 이벤트 DB · 실시간 WebSocket · 관리자 웹  ·  상세: 펫호텔_기능맵_초안.md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공사를 마친 1동 4층, 112실 규모로 오픈을 준비합니다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51206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테라스와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5120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5120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5120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 — 체크인과 부가 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83080"/>
            <a:ext cx="4206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위치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인천 중구 운남동로 44 (영종 운남지구)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공항철도 영종역 5분 · 금산IC 약 3km · 인천공항 약 15분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하늘도시 · 미단시티 · 인스파이어 약 2km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상태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1차 공사 완료, 오픈 준비 단계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인허가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동물위탁관리업 등록 완료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원 사업계획서(리조이스) 평면 기준 · 컨셉은 진행 중 바뀔 수 있습니다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OPTION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2차 개발은 1차 가동 데이터를 보고 결정합니다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B1F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펫 플레이파크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약 1,054평 (3,485㎡)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데이케어 · 어질리티 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펫파크 2곳 · 수영장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레스토랑 · 레슨룸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나동 1F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774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투숙 중 건강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290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진료 · 대기 공간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위탁견 응급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기록과 리포트 연결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나동 2–3F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774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펫몰 · 파티룸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 체류 콘텐츠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4290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푸드 · 용품 · 패션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생일 · 모임 파티룸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쇼룸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83480"/>
            <a:ext cx="10908792" cy="960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1206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이번 투자 범위는 1차(가동 1동 4층)입니다.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2차는 원 사업계획에도 '추후 일정 확정'으로 되어 있습니다. 1차 가동률과 재이용 데이터로 판단합니다.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가동률 10%p마다 연매출이 약 3.1억 원씩 달라집니다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321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시나리오 연매출(숙박 + 부가 15%) · 실사 전 가정 · 비용 미반영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객실 구성 (원 사업계획서)과 가정 요금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소형 52실 · 1박 5만 원(가정)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중형 34실 · 1박 6.5만 원(가정)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대형 22실 · 1박 9만 원(가정)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패밀리 4실 · 1박 15만 원(가정)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가중 평균 약 6.6만 원 — 권역 공개가 5.5~11만 원 범위 안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가동률을 보수적으로 잡은 이유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112실은 위탁 전용으로 큰 규모라, 동반형 참고치(키녹 ~79%, 소노펫 ~70%)보다 낮게 가정했습니다.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가동률 60%면 하루 약 67마리로, 법정 기준(20마리당 1명)상 최소 4명 이상 상시 인력이 필요합니다.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+ 1층 부가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4타입 객실 · 체중별 요금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스파 · 미용 · 카페 · 샌딩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단계마다 확인 지점을 두고 다음으로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 검토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제휴 시설 도입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후보(원 사업계획):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가설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틀린다면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확인 · 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112실을 채울 만큼 수요가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가동률 장기 저조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타입별 단계 오픈 · 3F 중대형 우선 판매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443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공항 보호자가 공식 카운터 밖으로도 움직인다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6324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샌딩 상품 수요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632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오픈 90일 공항 유입 비중 측정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21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보호자가 '보이는 안심'에 비용을 더 낸다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옵션 선택 저조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오픈 초기 무료 체험 → 유료 전환율 측정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988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AI 이벤트가 운영에 쓸 만큼 정확하다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61772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오탐 · 과알림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1772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 확인 후 공유 · 고정확 규칙만 알림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760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24시간 인력 기준(20마리당 1명)을 맞춘다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39496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인건비 부담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9496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가동률 연동 인력 운영 · AI 관제로 순찰 보조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05332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참고한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 (2024 base)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Mordor Intelligence — Pet Hotels Market (2026–2031)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한국관광공사 반려동물 동반여행 현황·인식조사 2024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(호텔링·펫라운지)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이용약관·FAQ — 반려동물 입실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구성, 층별 평면, 2차 계획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경쟁 · 가격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언론 보도 — 키녹·소노펫 객실점유율(동반형 참고치)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호텔독스 — 실시간 CCTV·AI 리포트 포지셔닝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펫호텔_기능맵_초안.md · 프로젝트_범위_확장_초안.md · PET-Aeye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 자료는 논의를 위한 초안입니다. 수치는 공개 자료와 가정에 기반하며, 투자 판단에는 별도의 실사와 자문이 필요합니다.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