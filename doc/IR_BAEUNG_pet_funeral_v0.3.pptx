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0F766E"/>
                </a:solidFill>
                <a:latin typeface="Malgun Gothic"/>
                <a:ea typeface="Malgun Gothic"/>
              </a:rPr>
              <a:t>PET FUNERAL  ·  INVESTOR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</a:rPr>
              <a:t>배웅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</a:rPr>
              <a:t>BAEUNG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46120"/>
            <a:ext cx="128016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CBD5E1"/>
                </a:solidFill>
                <a:latin typeface="Malgun Gothic"/>
                <a:ea typeface="Malgun Gothic"/>
              </a:rPr>
              <a:t>인천·경기 서부 합법 펫장례 허브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CBD5E1"/>
                </a:solidFill>
                <a:latin typeface="Malgun Gothic"/>
                <a:ea typeface="Malgun Gothic"/>
              </a:rPr>
              <a:t>찾아가는 의전  ×  디지털 메모리얼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521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</a:rPr>
              <a:t>Summit Farewell Park  ·  을왕동  ·  v0.3 · 장묘업 인가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인가 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동물장묘업 인가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063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~734억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코어 장묘 시장(기본)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10~15억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배웅 기본 매출 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500+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349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고팀장 의전 인력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01 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오늘 이야기할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펫장례(배웅) 중심 · 호텔은 업사이드로만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17320"/>
            <a:ext cx="73152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581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6184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수요 전환과 합법 공급 공백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28600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286000"/>
            <a:ext cx="73152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468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450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해법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487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허브 × 의전망 × 메모리얼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73152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319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시장·숫자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3558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Bottom-up 밴드와 상권 매출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02336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023360"/>
            <a:ext cx="73152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1879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2245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제품 · GTM · 경쟁 · 로드맵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92040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892040"/>
            <a:ext cx="73152" cy="7498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056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</a:rPr>
              <a:t>실행·리스크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0932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인가 확보 이후 잔여 실사와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02 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한 줄로 정의하면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8016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이별의 순간을 합법·투명하게 받고,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Malgun Gothic"/>
                <a:ea typeface="Malgun Gothic"/>
              </a:rPr>
              <a:t>기억을 일상 추모로 이어 주는 펫장례 허브.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004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200400"/>
            <a:ext cx="2697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401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허브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7490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을왕 합법 화장·추모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봉안·자연장·스톤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2004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3200400"/>
            <a:ext cx="2697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3401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의전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7490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병원·자택 픽업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인증 지도사 배차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004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00400"/>
            <a:ext cx="2697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401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신뢰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7490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허가·개별화장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기본/선택 가격 공개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2004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3200400"/>
            <a:ext cx="26974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3401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락인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37490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웹 접수 →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앱 메모리얼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03 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수요는 커지고, 합법 공급은 따라가지 못한다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73152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의례화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직접 매장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Malgun Gothic"/>
                <a:ea typeface="Malgun Gothic"/>
              </a:rPr>
              <a:t>58.7% → 31~36%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개별 화장·스톤·자택 보관이 표준으로 이동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73152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인프라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허가 업체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Malgun Gothic"/>
                <a:ea typeface="Malgun Gothic"/>
              </a:rPr>
              <a:t>전국 80~90곳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서울·인천 서부 공백 → 원정 장례 고착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0332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703320"/>
            <a:ext cx="73152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신뢰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무허가·불투명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Malgun Gothic"/>
                <a:ea typeface="Malgun Gothic"/>
              </a:rPr>
              <a:t>처리 vs 장례 혼동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보호자는 허가·개별화장·가격을 요구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0332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03320"/>
            <a:ext cx="73152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접근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97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검색광고 고단가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Malgun Gothic"/>
                <a:ea typeface="Malgun Gothic"/>
              </a:rPr>
              <a:t>시설만으로 한계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257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실제 유입은 동물병원 추천이 핵심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04 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규제와 자본이 합법 사업자에게 유리해지는 구간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733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591만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반려가구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Malgun Gothic"/>
                <a:ea typeface="Malgun Gothic"/>
              </a:rPr>
              <a:t>전체 가구의 ~26.7%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6733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1,500만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반려인 규모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Malgun Gothic"/>
                <a:ea typeface="Malgun Gothic"/>
              </a:rPr>
              <a:t>인구의 약 30%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4173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417320"/>
            <a:ext cx="64008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733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2023→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장묘 허가제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Malgun Gothic"/>
                <a:ea typeface="Malgun Gothic"/>
              </a:rPr>
              <a:t>진입장벽↑ · 신뢰 프리미엄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657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657600"/>
            <a:ext cx="36118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858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정책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20624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가격게시제(2028)·자연장·도심 장례식장 완화 논의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→ 투명·표준 사업자 유리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657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657600"/>
            <a:ext cx="36118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858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자본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20624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상조·통신·라이프케어의 펫상조 진출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→ 시설·직접 접수가 협상력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657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3657600"/>
            <a:ext cx="36118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3858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문화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420624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평균 장례비 ~46만, 계획 지출 ~67만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→ 패키지·추모 업셀 여력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05 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배웅 = 지역 허브 + 의전망 + 메모리얼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651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200" y="1600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664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유입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병원 · 자택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방문 · 상조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766E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417320"/>
            <a:ext cx="2651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1600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664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현장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인증 의전 배차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픽업 · 염습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766E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417320"/>
            <a:ext cx="2651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9480" y="1600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664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허브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개별 화장·추모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봉안 · 스톤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766E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417320"/>
            <a:ext cx="26517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04120" y="16002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1664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Malgun Gothic"/>
                <a:ea typeface="Malgun Gothic"/>
              </a:rPr>
              <a:t>사후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웹 추모관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앱 기일·앨범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06908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206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인가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3251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동물장묘업 인가 확인 — 합법 본영업 가능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06908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206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인력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43251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고팀장 500명+ → 펫 인증 온콜 (공급 해자)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07492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12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제품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330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응급은 웹 / 추모 습관은 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074920"/>
            <a:ext cx="544068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212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구조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5330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상조는 선택 제휴 · 병원·자체 접수 병행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06 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광의 보도가 아니라, 검증 가능한 코어로 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광의 (참고)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1,600~</a:t>
            </a:r>
          </a:p>
          <a:p>
            <a:pPr>
              <a:spcAft>
                <a:spcPts val="200"/>
              </a:spcAft>
            </a:pPr>
            <a:r>
              <a:rPr sz="2800" b="0">
                <a:solidFill>
                  <a:srgbClr val="0F172A"/>
                </a:solidFill>
                <a:latin typeface="Malgun Gothic"/>
                <a:ea typeface="Malgun Gothic"/>
              </a:rPr>
              <a:t>1,720억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상조·부가 포함 가능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매체별 정의 상이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CFBF1"/>
                </a:solidFill>
                <a:latin typeface="Malgun Gothic"/>
                <a:ea typeface="Malgun Gothic"/>
              </a:rPr>
              <a:t>코어 기본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약 734억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832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  <a:ea typeface="Malgun Gothic"/>
              </a:rPr>
              <a:t>연 14.7만 건 × ASP 50만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  <a:ea typeface="Malgun Gothic"/>
              </a:rPr>
              <a:t>의사결정용 중심 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37160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코어 낙관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1031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F172A"/>
                </a:solidFill>
                <a:latin typeface="Malgun Gothic"/>
                <a:ea typeface="Malgun Gothic"/>
              </a:rPr>
              <a:t>약 1,335억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3832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이용률·ASP 상승 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전국 상한에 근접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공식 단일 통계 없음  →  사망 마리(견묘÷수명) × 장묘 이용률 × ASP 로 Bottom-up 검증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수도권 기본 ~7.6만 건 · ~0.38조  |  실제 평균 지출 ~46만 · 계획 ~67만 · 모델 ASP 50만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07  BEACHHEAD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배웅이 먹는 시장 — 인천·경기 서부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029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L2 상권 (주력)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0F172A"/>
                </a:solidFill>
                <a:latin typeface="Malgun Gothic"/>
                <a:ea typeface="Malgun Gothic"/>
              </a:rPr>
              <a:t>인천 + 경기 서부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잠재 장묘 건수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약 17,400건 /년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상권 규모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83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약 87억 (ASP 50만)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인천만 (L1)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약 8,700건 /년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서울 유입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663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원정 수요 민감도 가산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371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배웅 코어 매출 밴드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82880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보수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965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5~8억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468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점유 저조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06324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CFBF1"/>
                </a:solidFill>
                <a:latin typeface="Malgun Gothic"/>
                <a:ea typeface="Malgun Gothic"/>
              </a:rPr>
              <a:t>기본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10~15억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94A3B8"/>
                </a:solidFill>
                <a:latin typeface="Malgun Gothic"/>
                <a:ea typeface="Malgun Gothic"/>
              </a:rPr>
              <a:t>L2 10~15% + 서울 소폭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429768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낙관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434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20~30억+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937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이용률·ASP·점유·부가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6235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인가 확보 후 병목은 인지도 · 병원 제휴 · 픽업 대응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08  OFFERING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건수보다 믹스 — 기본은 낮게, 선택은 깊게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73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엔트리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67335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기본 화장 20~30만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688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주력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249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패키지 70~150만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76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프리미엄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7764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스톤·봉안 등 ~300만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720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28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모델 ASP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8280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기본 시나리오 50만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532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417320"/>
            <a:ext cx="553212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61848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매출 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1965960"/>
            <a:ext cx="5166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• 화장 패키지 · 추모실·참관·증명서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• 픽업·운구 (병원/자택 접근성)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• 봉안·수목·자연장 (거점 락인)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• 스톤·굿즈 (고가 업셀)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79476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3794760"/>
            <a:ext cx="553212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399592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가격·부가 전략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343400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• 기본/선택 분리 → 2028 게시제 대비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• 공개 ASP↓ · 실ASP는 선택 업셀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• 업사이드: 추모 구독·커머스·상조 수수료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09 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응급에는 웹, 기억에는 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당일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모바일 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견적 · 픽업 · 예약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카톡/병원 링크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61188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인도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웹 추모관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프로필 · 앨범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방명록 · 공유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37160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371600"/>
            <a:ext cx="36118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습관화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앱 유도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기일 알림 · 케어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</a:rPr>
              <a:t>멤버십 연결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20624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15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3159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웹 접수 → 선택적 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4315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설치 마찰 최소화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84632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56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의전 인력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9560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고팀장 네이티브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39" y="4956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배차·푸시·현장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48640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96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운영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5596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관리자 웹 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39" y="5596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케이스·정산·CRM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10  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수요를 만드는 채널 ≠ 인력을 쓰는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수요 채널 (우선순위)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6766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901952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동물병원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9385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최대 건수 · 임종/안락사 접점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06040"/>
            <a:ext cx="6766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770632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807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자택·방문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8072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24h 응급 · 브랜드 직접 예약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74720"/>
            <a:ext cx="6766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639312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675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상조 본사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675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캐파 제휴 · 하청화 방지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43400"/>
            <a:ext cx="6766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507992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544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호텔 이관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5445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리조이스 CRM (중기 차별화)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1325880"/>
            <a:ext cx="3931920" cy="4663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CFBF1"/>
                </a:solidFill>
                <a:latin typeface="Malgun Gothic"/>
                <a:ea typeface="Malgun Gothic"/>
              </a:rPr>
              <a:t>SUPPLY ASSET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011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고팀장</a:t>
            </a:r>
          </a:p>
          <a:p>
            <a:pPr>
              <a:spcAft>
                <a:spcPts val="200"/>
              </a:spcAft>
            </a:pPr>
            <a:r>
              <a:rPr sz="2600" b="0">
                <a:solidFill>
                  <a:srgbClr val="FFFFFF"/>
                </a:solidFill>
                <a:latin typeface="Malgun Gothic"/>
                <a:ea typeface="Malgun Gothic"/>
              </a:rPr>
              <a:t>500명+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1089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수요 풀이 아닙니다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• 펫 인증 온콜 의전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• 찾아가는 염습·픽업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• Phase1 서부 30~50명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• 채용 CAC ≈ 0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• 상조 본사 소개 다리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11  COMPETITION &amp;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시설을 가진 자가, 접수를 뺏기지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36118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572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체인 장묘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2024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포포즈 등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서부 허브 + 투명 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6118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72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상조 자본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2024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스카이펫 등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선택 제휴, 자체 접수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371600"/>
            <a:ext cx="361188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5727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로컬·무허가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20240"/>
            <a:ext cx="3246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가격 경쟁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  <a:ea typeface="Malgun Gothic"/>
              </a:rPr>
              <a:t>합법·모니터링 차별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747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인가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동물장묘업 인가 확보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747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입지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을왕 · 서부·공항 동선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4747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인력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고팀장 의전망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70916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신뢰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허가번호·가격 공개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70916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제품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웹→앱 메모리얼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70916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766E"/>
                </a:solidFill>
                <a:latin typeface="Malgun Gothic"/>
                <a:ea typeface="Malgun Gothic"/>
              </a:rPr>
              <a:t>옵션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Malgun Gothic"/>
                <a:ea typeface="Malgun Gothic"/>
              </a:rPr>
              <a:t>리조이스 CRM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12 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핵심 게이트 통과 — 가동 실행 단계로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</a:rPr>
              <a:t>CLEARED  —  동물장묘업 인가 확보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영업 인가(동물장묘업)는 확인 완료. 합법 화장·장례 본영업의 전제 리스크가 해소되었다.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잔여 실사: 건축 주용도·환경(화장로) 정합 · 면적 문서 대조 · 민원 이력 — 가동 병행 가능 항목.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1089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PHASE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정합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용도·환경 대조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브랜드·의전 선발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1089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가동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519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병원 GTM · 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OS · 온콜 30~50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1089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락인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앱 메모리얼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CRM · 선택 상조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10896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2519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다거점 · SaaS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Malgun Gothic"/>
                <a:ea typeface="Malgun Gothic"/>
              </a:rPr>
              <a:t>멤버십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13 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리스크를 숨기지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건축 용도·환경 정합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</a:rPr>
              <a:t>완화  인가와 대장·화장로 인허가 대조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문서·면적 불일치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</a:rPr>
              <a:t>완화  실사로 필지·건축 확정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346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상조 하청화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</a:rPr>
              <a:t>완화  병원·자체 웹 접수 병행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346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시장 과대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</a:rPr>
              <a:t>완화  Bottom-up 밴드만 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976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점유·이용률 민감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</a:rPr>
              <a:t>완화  시나리오 표기 · 병원 KPI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</a:rPr>
              <a:t>민원·님비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</a:rPr>
              <a:t>완화  입지·운영 SOP · 모니터링 공개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BAEUNG  ·  Pet Funeral IR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766E"/>
                </a:solidFill>
                <a:latin typeface="Malgun Gothic"/>
                <a:ea typeface="Malgun Gothic"/>
              </a:rPr>
              <a:t>14 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0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172A"/>
                </a:solidFill>
                <a:latin typeface="Malgun Gothic"/>
                <a:ea typeface="Malgun Gothic"/>
              </a:rPr>
              <a:t>투자 포인트와 다음 숫자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813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장묘업 인가 확보 — 합법 본영업 전제 해소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1168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1168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214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구조적 수요 — 고령화 · 매장↓ · 화장·추모↑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5176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65176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614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공급 공백 — 인천·서부 합법 허브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9184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29184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015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운영 인력 — 고팀장 500명+ 온콜 전환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3192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93192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41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현실 밴드 — 가동 시 코어 연 10~15억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572000"/>
            <a:ext cx="68580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57200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817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  <a:ea typeface="Malgun Gothic"/>
              </a:rPr>
              <a:t>제품 해자 — 웹 접근성 + 앱 메모리얼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371600"/>
            <a:ext cx="3840480" cy="457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691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CCFBF1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라운드 · 금액 · 지분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918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자금 용도 (예정)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· 자산 · 인허가 · 설비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· 운영 · 병원 GTM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· 웹 / OS / 메모리얼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· 운전자본 · 예비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Malgun Gothic"/>
                <a:ea typeface="Malgun Gothic"/>
              </a:rPr>
              <a:t>실사·재무모델 후 기입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배웅에서 시작해,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라이프케어로 확장한다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128016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>다음 자료: 리조이스(펫호텔) IR  ·  통합 CRM  ·  재무모델·Ask  ·  용도·환경 정합 체크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>근거: 산업분석 · 문화조사 · Bottom-up · 유입/기능맵 · 범위확장 초안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>본 자료는 논의용입니다. 투자 결정은 별도 실사와 자문을 전제로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