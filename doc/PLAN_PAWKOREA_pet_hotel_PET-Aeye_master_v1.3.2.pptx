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국내 펫 보딩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2030E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980</c:v>
                </c:pt>
                <c:pt idx="1">
                  <c:v>1830</c:v>
                </c:pt>
              </c:numCache>
            </c:numRef>
          </c:val>
        </c:ser>
        <c:dLbls>
          <c:numFmt formatCode="#,##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연매출 합계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dPt>
            <c:idx val="2"/>
            <c:spPr>
              <a:solidFill>
                <a:srgbClr val="EAE6DD"/>
              </a:solidFill>
            </c:spPr>
          </c:dPt>
          <c:cat>
            <c:strRef>
              <c:f>Sheet1!$A$2:$A$4</c:f>
              <c:strCache>
                <c:ptCount val="3"/>
                <c:pt idx="0">
                  <c:v>보수</c:v>
                </c:pt>
                <c:pt idx="1">
                  <c:v>기준</c:v>
                </c:pt>
                <c:pt idx="2">
                  <c:v>공격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15.2</c:v>
                </c:pt>
                <c:pt idx="1">
                  <c:v>24.2</c:v>
                </c:pt>
                <c:pt idx="2">
                  <c:v>35.7</c:v>
                </c:pt>
              </c:numCache>
            </c:numRef>
          </c:val>
        </c:ser>
        <c:dLbls>
          <c:numFmt formatCode="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MASTER PLAN  ·  2026.10  ·  v1.3.2  ·  내부 논의용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414"/>
                </a:solidFill>
                <a:latin typeface="Malgun Gothic"/>
                <a:ea typeface="Malgun Gothic"/>
              </a:rPr>
              <a:t>파우코리아 펫호텔 영종</a:t>
            </a:r>
          </a:p>
          <a:p>
            <a:pPr algn="l">
              <a:spcAft>
                <a:spcPts val="0"/>
              </a:spcAft>
            </a:pPr>
            <a:r>
              <a:rPr sz="4400" b="1">
                <a:solidFill>
                  <a:srgbClr val="FF5B1F"/>
                </a:solidFill>
                <a:latin typeface="Malgun Gothic"/>
                <a:ea typeface="Malgun Gothic"/>
              </a:rPr>
              <a:t>× PET-Aeye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시장 · 호텔 · 제품(PET-Aeye) · 레이더 바이탈 · 비즈니스 · 관리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algun Gothic"/>
                <a:ea typeface="Malgun Gothic"/>
              </a:rPr>
              <a:t>맡기는 순간부터, 보이는 안심을. 영종에서 운영하고, 다른 펫호텔로 넓힙니다.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4개 타입 위탁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2개동 캠퍼스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본관 호텔 · 별관 생활권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PET-Aeye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실시간 AI 관제 솔루션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SaaS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타 펫호텔 확장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문서가 다루는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왜 · 시장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진입 기회 · 수요 · 포지셔닝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호텔에 담을 것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공간 · 객실 · 서비스 · 운영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PET-Aeye (제품)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관제 · 앱 · 여정 · 기능맵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레이더 바이탈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FMCW 레이더 · 비접촉 바이탈 (PoC)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비즈니스 &amp;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수익모델 · 단위경제 · SaaS 요금 · 홈서비스 · 경쟁 · 투자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관리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지표 · 리스크 · 결정 · 로드맵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전체 사업 범위(펫장례 포함)는 프로젝트_범위_확장_초안.md에서 다룹니다.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1 · WHY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왜 지금, 영종인가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인스파이어는 반려동물 입실이 어렵고, 공항 15분 거리와 신도시 생활권이 한 섬에 겹칩니다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공식 공항 채널이 담지 못하는 중대형 수요가 남아 있습니다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사업을 제안하는 세 가지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3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영종에는 구조적인 위탁 수요가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인스파이어 리조트는 반려동물 입실이 어렵고, 공항 15분 거리와 신도시 생활권이 한 섬에 겹쳐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3755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공식 공항 채널 밖에 중대형 수요가 남아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1개 업체가 운영하며 약 13kg 이하 소형견 중심입니다.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262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548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자체 AI 관제 PET-Aeye가 실시간 캠 · AI 행동 이벤트 · 일일 리포트를 전 객실에 제공합니다.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세 가지 숫자에서 진입 기회를 찾았습니다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0실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인스파이어 리조트의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반려동물 입실 가능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보조견 외에는 입실이 어려워, 투숙객에게 인근 위탁이 필요합니다.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13kg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인천공항 공식 호텔링의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수용 체중 기준(안내)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중·대형견 보호자는 다른 선택지를 찾아야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39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FF5B1F"/>
                </a:solidFill>
                <a:latin typeface="Malgun Gothic"/>
                <a:ea typeface="Malgun Gothic"/>
              </a:rPr>
              <a:t>26실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저희 3층의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공식 채널이 받기 어려운 보호자를 맞이합니다.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Source: 인스파이어 이용약관·FAQ, 인천국제공항공사 보도자료(2024.3·11) 및 영문 안내, 원 사업계획서 3F 평면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시장은 아직 작지만 빠르게 크고, 입지가 수요를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190195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공항 출국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출국 전 맡기고 귀국 시 찾는 수요입니다. 공항공사가 호텔링 카운터를 직접 열 만큼 수요가 확인됐습니다.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67512" y="322783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리조트 투숙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입실이 제한되는 인스파이어·파라다이스시티 등 대형 리조트 투숙객의 단기 위탁 수요입니다.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67512" y="455371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영종 생활권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하늘도시·미단시티 거주 가구의 출장·여행·데이케어 수요로 비수기를 보완합니다.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92240" y="1828800"/>
          <a:ext cx="49377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53035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국내 펫 보딩 시장 · CAGR 11.1% (2025–2030 전망)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Grand View Horizon, USD→KRW 1,350원 환산(약수). 동반숙박 시장은 제외했습니다.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대형 리조트 투숙 수요를 함께 담습니다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965960"/>
            <a:ext cx="47548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인스파이어 엔터테인먼트 리조트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1,275실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3개 타워 · 아레나 1.5만석 · 워터파크 · 카지노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376672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00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파라다이스시티 (하얏트 리젠시 포함)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1,270실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· 카지노 · 원더박스 · 씨메르 스파 (2026 확장)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0908792" cy="658368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75887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영종 생활권 5성 리조트 약 2,545실 — 다수가 반려동물 동반 투숙을 제한합니다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349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우리에게 오나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대부분 반려 동반 투숙 제한 → 위탁 수요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외국인 · 장기 · MICE 투숙객의 여행 중 안심 위탁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공항 10분 · 리조트 5~10분, 같은 생활권 픽업·샌딩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434840"/>
            <a:ext cx="53766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연계 방식 (B2B)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컨시어지 · FAQ 제휴 (추천 보딩 채널)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객실+펫 위탁 번들 · 귀국 동선 미용·리테일 연결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직원 · 장기 거주 수요 · 반려 이벤트 대관 송객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객실수: 인스파이어 1,275실 · 파라다이스시티 1,270실(2026, 하얏트 리젠시 포함). Source: 각 리조트 안내 · 보도자료.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'중대형 × 보이는 안심' 자리는 비어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783080"/>
            <a:ext cx="3017520" cy="20574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3840480"/>
            <a:ext cx="60350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1783080"/>
            <a:ext cx="18288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897880"/>
            <a:ext cx="603504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600760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수용 범위  →  소형 중심 · · · 중대형·패밀리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91840"/>
            <a:ext cx="1051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안심 투명성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↑ 실시간 캠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AI 리포트</a:t>
            </a:r>
          </a:p>
        </p:txBody>
      </p:sp>
      <p:sp>
        <p:nvSpPr>
          <p:cNvPr id="13" name="Oval 12"/>
          <p:cNvSpPr/>
          <p:nvPr/>
        </p:nvSpPr>
        <p:spPr>
          <a:xfrm>
            <a:off x="2690164" y="3822191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1916" y="372160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독독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공식 채널</a:t>
            </a:r>
          </a:p>
        </p:txBody>
      </p:sp>
      <p:sp>
        <p:nvSpPr>
          <p:cNvPr id="15" name="Oval 14"/>
          <p:cNvSpPr/>
          <p:nvPr/>
        </p:nvSpPr>
        <p:spPr>
          <a:xfrm>
            <a:off x="4259275" y="4069080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1027" y="396849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더우프앤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샌딩·장기 할인</a:t>
            </a:r>
          </a:p>
        </p:txBody>
      </p:sp>
      <p:sp>
        <p:nvSpPr>
          <p:cNvPr id="17" name="Oval 16"/>
          <p:cNvSpPr/>
          <p:nvPr/>
        </p:nvSpPr>
        <p:spPr>
          <a:xfrm>
            <a:off x="5888735" y="4562855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7" y="446227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앤드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중대형·생활권</a:t>
            </a:r>
          </a:p>
        </p:txBody>
      </p:sp>
      <p:sp>
        <p:nvSpPr>
          <p:cNvPr id="19" name="Oval 18"/>
          <p:cNvSpPr/>
          <p:nvPr/>
        </p:nvSpPr>
        <p:spPr>
          <a:xfrm>
            <a:off x="4078224" y="2299716"/>
            <a:ext cx="201168" cy="20116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21991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호텔독스(서울)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참고 사례 · 권역 외</a:t>
            </a:r>
          </a:p>
        </p:txBody>
      </p:sp>
      <p:sp>
        <p:nvSpPr>
          <p:cNvPr id="21" name="Oval 20"/>
          <p:cNvSpPr/>
          <p:nvPr/>
        </p:nvSpPr>
        <p:spPr>
          <a:xfrm>
            <a:off x="6135624" y="2368296"/>
            <a:ext cx="310896" cy="31089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2257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파우코리아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지향하는 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828800"/>
            <a:ext cx="3566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읽는 법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공식 채널(독독)은 접근성이 좋지만 소형견 중심입니다.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로컬(앤드)은 중대형을 받지만, 공개 정보상 AI 리포트형 안심은 없습니다.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서울에는 AI 캠으로 프리미엄을 만드는 사례가 있습니다. 영종에는 아직 없습니다.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공개 정보 기반의 정성 배치입니다.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두 개 동, 하나의 반려 캠퍼스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— 프리미엄 펫호텔(위탁 숙박 · 스파 · 미용 · 안심)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 — 펫유치원 · 펫용품 리테일로 생활권 수요 확장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24시간 상주 케어와 PET-Aeye 관제를 함께 운영합니다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2개동 캠퍼스 — 본관(숙박) × 별관(생활권)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376672" cy="35661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본관 · 프리미엄 펫호텔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머무는 안심 — 야간 · 숙박 중심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8036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숙박 — 체급별 객실 · 스위트 · 테마룸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35584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스파 · 미용 — 자쿠지 스파 · 그루밍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3831335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 — T1 10분 · 발렛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430682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옥상 놀이방 — 그룹 활동 · 하이라이트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478231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안심 — 라이브 · CareReport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별관 · 생활권 센터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매일 오는 이유 — 주간 · 통원 중심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펫유치원 — 주간 데이케어 · 사회화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5584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미용 · 스파 — 트리밍 · 목욕 · 셀프워시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31335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펫용품 리테일 — 큐레이션 · 구독 · 체험형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06824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아카데미 — 행동교정 · 클래스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82312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카페 · 커뮤니티 — 멤버십 허브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86400"/>
            <a:ext cx="10908792" cy="914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5614416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두 엔진의 시너지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시간대 상보(야간 숙박 × 주간 통원) · 수요 상보(여행 × 생활권) · 퍼널(유치원 → 호텔 전환) · 공용 자원(관제 · 픽업 · 백오피스 · PET-Aeye)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— 층별 공간과 추가로 갖출 운영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6B6B"/>
                </a:solidFill>
                <a:latin typeface="Malgun Gothic"/>
                <a:ea typeface="Malgun Gothic"/>
              </a:rPr>
              <a:t>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783080"/>
            <a:ext cx="484632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11095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B6B6B"/>
                </a:solidFill>
                <a:latin typeface="Malgun Gothic"/>
                <a:ea typeface="Malgun Gothic"/>
              </a:rPr>
              <a:t>루프탑 가든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피크닉 존 · 야외 테라스 · 정원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807208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93522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VIP 2타입 · 라운지 — 중대형 전용 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831336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95935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소형 52실 · 중형 34실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2타입 객실 · 라운지 · 펫 플레이존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855464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49834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프런트 · 상담/예약 · 스파 ·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휴식실 · 카페&amp;베이커리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위치: 인천 영종구 운남동로 44 · 운서역 5분 · 인천공항 약 10분 · 인허가: 동물위탁관리업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추가로 갖출 운영 공간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40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관제실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룸 그리드 · 야간 관제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69748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86207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격리실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8620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입실 후 이상 증상 개체 분리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33192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48386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급식 준비실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4838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개체별 식단 · 특식 · 투약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941064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10565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세탁 · 소독실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1056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객실 회전 청소 · 침구 세탁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4562856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72744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비품 · 의약품 보관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7274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응급 키트 · 투약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184648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3492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이중문 · 출입 통제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5349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층별 탈출 방지 · 출입 기록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580644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객실 상품 — 4개 타입, 112실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실수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대상 (가정)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1박 요금 (가정)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79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52실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40279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~7kg 소형견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40279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79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(다실 1캠 검토)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15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07208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중형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34실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80720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7~15kg 중형견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07208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6.5만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07208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28269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374136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22실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37413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15kg 이상 대형견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374136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9만 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374136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· 우선 적용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8496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941063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패밀리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4실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941063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다견 가족 · VIP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941063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15만 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941063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1~2대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41655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07992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합계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50799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507992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약 6.6만 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507992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PET-Aeye 연결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4937760"/>
            <a:ext cx="10908792" cy="10515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19" y="5074920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3F 26실(대형 · 패밀리)을 중대형 수요의 핵심 상품으로 둡니다.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약 13kg 이하 중심입니다. 가동률 30 · 45 · 60% 기준 연매출은 약 9.3 · 14.0 · 18.6억 원입니다(부가 15% 포함, 가정).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서비스 메뉴 — 기본 · 부가 · 안심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기본 위탁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Stay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급식 · 급수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하루 2회 이상 산책 · 놀이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배변 처리 · 객실 청소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 케어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케어 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ADD-ON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부가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스파 · 목욕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미용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특식 (SPECIAL PET FOOD)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투약 관리 · 데이케어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배정 룸 라이브 열람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CareReport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이상 시 보호자 알림 (선택)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퇴실 하이라이트 클립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Stay 졸업 리포트 (종합 행동분석)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20640"/>
            <a:ext cx="10908792" cy="8686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30368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대표 패키지  ‘공항 안심 보딩’ = 숙박 + 공항 샌딩 · 픽업 + 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인스파이어 숏스테이 · 영종 생활권 데이케어는 같은 구성에서 기간만 다르게 운영합니다.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운영 기준 — 입실 · 케어 · 인력 ·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입실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예방접종 증명 확인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건강 문진 · 기저질환 · 복용약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공격성 · 분리불안 체크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생리 · 발정 여부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케어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식단 · 급여 시간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산책 · 놀이 일정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순찰과 PET-Aeye 관제 병행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케어 로그 기록 · 리포트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인력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20마리당 1명 이상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가동률 연동 근무표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야간 관제 담당 지정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정책 · 동의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이용 약관 · 취소 / 환불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응급 진료 동의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영상 촬영 · 열람 · 보존 고지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배상책임보험 가입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가동률 60%(하루 약 67마리)면 상시 최소 4명이 필요합니다. 근무표는 객실 판매 현황과 함께 짭니다.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캠퍼스, 두 엔진 — 생활권으로 확장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별관은 '매일 오는 이유' — 펫유치원 · 펫 미용 · 펫용품 리테일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호텔과 고객 · 브랜드 · PET-Aeye를 공유합니다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주간 · 반복 수요로 비수기를 메우고 LTV를 키웁니다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① 펫유치원 — 주간 데이케어 &amp; 사회화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프로그램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주 2~5회 · 월 정액 (주력 상품)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일일권 · 반일 / 종일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비정기 수요 · 체험 유입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픽업 · 샌딩 옵션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본관 차량 공유 · 발렛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행동교정 · 클래스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사회화 · 기초 훈련 (부가)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호텔 전환 번들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유치원 회원 숙박 할인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등원 리포트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등원 중 배정 존 라이브 열람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일일 리포트 (놀이 · 낮잠 · 사회성)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월 성장 · 사회성 리포트 (졸업 리포트 응용)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유치원인가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· 반복 매출로 비수기 보완 · 현금흐름 안정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통원 신뢰 → 호텔 위탁 전환 (LTV↑)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사회화 · 행동 데이터가 호텔 케어로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요금 · 프로그램은 운영 설계안이며 지역 수요로 조정합니다.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② 펫 미용 — 생활권 트리밍 &amp; 스파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서비스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기본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목욕 · 위생 · 발톱 · 부분 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전체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가위컷 · 클리핑 · 스타일링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스파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약욕 · 버블 · 탄산 (보유 설비)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셀프워시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셀프 목욕 부스 · 생활권 재방문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 구독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월 미용권 · 유치원 · 호텔 번들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· 연계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미용 전 / 후 사진 · 리포트 보호자 전송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투숙 중 그루밍 연계 (퇴실 전 단장)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유치원 회원 정기 미용 번들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미용인가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고마진 · 고빈도 재방문 — 생활권 핵심 반복매출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그루밍 살롱 · 스파 설비 기보유 → 추가 capex 최소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· 유치원과 교차 판매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본관은 투숙객 대상 부가 그루밍, 별관은 생활권 워크인 미용으로 운영합니다.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③ 펫용품 리테일 — 큐레이션 · 구독 · 체험형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큐레이션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사료 · 간식 · 위생 · 장난감 · 웨어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수의 · 행동 기반 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구독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정기배송(사료 · 위생)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예측 가능한 반복 매출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체험형 매장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실사용 쇼룸 → 전환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호텔 · 유치원 동선 노출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번들 · 온라인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회원 번들 할인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스마트스토어 · 자사몰 · 픽업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7373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389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리테일인가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호텔 · 유치원 고객 기반 위에 얹는 고마진 부가매출입니다. 실제로 쓰는 제품을 매장에서 보여주니 전환이 쉽고,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구독 · 번들로 재방문과 반복 매출을 만들며, 재고는 큐레이션 · 구독 예약으로 최소화합니다.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품목 · 마진 · 구독 설계는 수요 데이터로 조정합니다.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④ 동물병원 — 앵커 입점 (위탁 · 제휴)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핵심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운남동 의료 공백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운남동 병원 1곳뿐 · 영종구 등록 14,347마리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원스톱 검진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호텔·유치원 입실 전 검진·예방접종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응급 연계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중 이상 → 원내 즉시 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적법 구조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수의사 개설·운영 / 파우는 공간·집객 제공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파우 수익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매출연동 임대 + 제휴 수수료(RS)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앵커 효과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의료는 목적성 방문 → 미용·유치원·호텔·리테일 전환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PET-Aeye·레이더 바이탈 → 응급·건강관리 연계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'의료가 있는 호텔' 프리미엄 신뢰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리스크 · 유의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사무장병원 규제 → 임대·제휴 구조 + 법률 검토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좋은 수의사 유치가 성패 / capex는 수의사 투자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일반·예방·검진부터, 24시 응급은 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동물병원 개설·운영 주체는 수의사입니다(수의사법). 파우코리아는 임대인·제휴자로 참여합니다.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사업 — 수익 구조 · 시너지 ·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5440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수익원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73736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성격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9456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정기권 · 일일권 · 픽업 · 행동교정 클래스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주간 · 반복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 미용 · 스파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4320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기본 · 전체 미용 · 스파 · 셀프워시 · 월 구독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고빈도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동물병원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9184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위탁 입점 · 매출연동 임대 + 제휴(RS)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9184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앵커 · 저위험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49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84048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매대 · 구독(정기배송) · 온라인 · 번들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8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반복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976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526280"/>
            <a:ext cx="5349240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운영 시너지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교차 인력 (주간 유치원 · 야간 호텔)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픽업 차량 · 관제실 · 백오피스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PET-Aeye (두 업태 쇼룸 → SaaS)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526280"/>
            <a:ext cx="5376672" cy="146304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단계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1 · 호텔 오픈 + 리테일 선오픈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2 · 유치원 · 미용 · 병원 입점 · 멤버십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3 · 아카데미 · 커뮤니티 · SaaS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두 엔진은 고객 · 브랜드 · PET-Aeye를 공유합니다. 별관은 '매일 오는 이유'로 본관의 비수기를 메웁니다.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캠퍼스 자산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주차 100대 · 잔디밭 · 카페를 집객 엔진으로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가든 카페 + 오프리쉬 독파크 — 신도시 주말 목적지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공항 원스톱 — 주차 + 보딩 + 샌딩 한 번에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잔디밭 + 주차 100대로 이벤트 · 대관 수익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A. 가든 카페 + 오프리쉬 독파크 — 집객 플라이휠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잔디밭 → 독파크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오프리쉬 · 어질리티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입장권 · 멤버십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1층 카페 → 허브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브런치 · 베이커리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수제간식 · 생일 케이크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주차 100대 → 목적지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차량 의존 상권에서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'모을 수 있다'는 우위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10908792" cy="1828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4297680"/>
            <a:ext cx="10332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플라이휠 — 미끼로 모아 전환으로 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카페 · 독파크로 집객(반려가구 + 일반 신도시 주민) → 미용 · 유치원 · 리테일 · 호텔로 전환 → PET-Aeye로 안심 증명 → 재방문.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수익: 독파크 입장 · 멤버십 · F&amp;B · 수제간식 / 카페는 비반려 고객까지 유입하는 집객 엔진.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독파크는 견종 규칙 · 배상책임보험 · 안전요원 운영을 전제로 설계합니다.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B. 공항 원스톱 — 주차 + 보딩 + 샌딩, 한 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19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①  지하 장기주차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100대 · 전기차 충전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동안 차량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4864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7784" y="1920240"/>
            <a:ext cx="3179064" cy="210312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2104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②  반려 보딩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본관 위탁(중대형 OK)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안심 열람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1128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4047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7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③  공항 샌딩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T1 차로 10분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· 귀국 픽업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10908792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66344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이기나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공식 채널이 받기 어려운 중대형견 + '주차 · 보딩 · 샌딩' 원스톱 편의를 영종 10분 거리에서 제공합니다.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출국객 수요가 본관 가동률의 안정적 기반이 되고, 귀국 동선에서 미용 · 리테일로 연결됩니다.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C. 이벤트 · 대관 — 잔디밭 + 주차 100대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소규모 행사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돌 · 생일 · 입양식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웨딩 · 소셜 모임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페스티벌 · 마켓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플리마켓 · 팝업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부스 임대 + F&amp;B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브랜드 촬영 · 대여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잔디 · 카페 · 주차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촬영지 · 협찬 유입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클래스 · 커뮤니티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운동회 · 도그 요가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멤버십 정기 모임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수익: 대관료 + 부스 임대 + F&amp;B + 협찬. 이벤트 집객이 전 사업 노출과 미디어 · 제휴 유입으로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3 · PET-Aeye (제품)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보고, 알리고, 요약합니다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전 객실 라이브 관제와 AI 행동 이벤트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스태프 앱과 보호자 앱, 그리고 일일 CareReport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모든 기록을 Stay(위탁 1건) 하나로 연결합니다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PET-Aeye — 보고, 알리고, 요약합니다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1691640" cy="1691640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룸별 카메라 라이브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검출 오버레이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알리고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장시간 무움직임 · 이상 행동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스태프 우선 알림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Stay 단위 일일 리포트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 기간 한정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사업계획의 '24시간 CHECKING SYSTEM'을 사람의 순찰과 PET-Aeye가 함께 맡습니다.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스태프용 관제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14884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112실 룸 그리드 · 이벤트 타임라인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AI 검출 · 추적 · 행동 라벨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이상 행동 알림 · PTZ 자동 추적 · 녹화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11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보호자용 안심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77639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기간 한정 링크로 배정 룸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Stay 단위 일일 CareReport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퇴실 후 하이라이트 클립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구성: RTSP 수신 · 녹화 · YOLO + ByteTrack · 이벤트 DB · 실시간 WebSocket · 관리자 웹 · 보호자 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관리자 관제 화면 — 112실을 한 화면에서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27</a:t>
            </a:r>
          </a:p>
        </p:txBody>
      </p:sp>
      <p:pic>
        <p:nvPicPr>
          <p:cNvPr id="6" name="Picture 5" descr="out_admin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477760" cy="4206240"/>
          </a:xfrm>
          <a:prstGeom prst="rect">
            <a:avLst/>
          </a:prstGeom>
          <a:ln w="9525">
            <a:solidFill>
              <a:srgbClr val="D9D5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366760" y="187451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라이브를 한 화면에서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269747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83463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AI 검출 오버레이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 · 행동 · 신뢰도 실시간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365759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79476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이상 감지 강조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확인 필요한 객실만 눈에 띄게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4617720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75488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실시간 이벤트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알림 로그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예시입니다.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스태프 앱 · 보호자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28</a:t>
            </a:r>
          </a:p>
        </p:txBody>
      </p:sp>
      <p:pic>
        <p:nvPicPr>
          <p:cNvPr id="6" name="Picture 5" descr="out_staff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2292031" cy="4663440"/>
          </a:xfrm>
          <a:prstGeom prst="rect">
            <a:avLst/>
          </a:prstGeom>
        </p:spPr>
      </p:pic>
      <p:pic>
        <p:nvPicPr>
          <p:cNvPr id="7" name="Picture 6" descr="out_guardian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2292031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6120" y="1828800"/>
            <a:ext cx="2697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스태프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확인 필요 알림을 가장 위에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객실만 빠르게 판단합니다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객실 라이브 + AI 오버레이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알림 화면에서 바로 확인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현장 확인 / 정상 처리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번의 조작으로 처리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담당 층 할 일 · 케어 로그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체크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828800"/>
            <a:ext cx="2788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보호자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배정 객실만 실시간 열람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전체 시설이 아닌 내 반려견 방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오늘의 CareReport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휴식 요약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하루 활동을 짧은 영상으로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기간 한정 안심 링크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체크아웃까지 열리고 자동 만료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Stay 졸업 리포트 — 투숙 영상으로 만든 종합 행동분석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29</a:t>
            </a:r>
          </a:p>
        </p:txBody>
      </p:sp>
      <p:pic>
        <p:nvPicPr>
          <p:cNvPr id="6" name="Picture 5" descr="out_grad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88036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26280" y="178308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담기는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240280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 · 수면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전 기간 활동량 · 수면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916936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적응 곡선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첫날 대비 안정도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59359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행동 프로파일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· 분리불안 신호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270248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 묶음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특이 이벤트 타임라인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946904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케어 로그 · 스태프 코멘트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+ 다음 방문 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왜 보내나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4028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한계비용 ≈ 0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영상 · 이벤트는 이미 쌓입니다.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체크아웃에 자동 생성만 붙입니다.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33756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재방문 · 추천 엔진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공유하고 싶은 결과물 → 자연 바이럴,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공식 채널엔 없는 차별점.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4348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유료 옵션 · 데이터 자산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안심 패키지 포함 또는 프리미엄,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베이스라인이 쌓입니다.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806440"/>
            <a:ext cx="6995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P1 일일 CareReport의 연장 → Stay 종합 리포트는 P1 후반~P2. 행동 수치는 검증된 지표 중심, 의료 진단이 아닙니다.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고객 여정마다 PET-Aeye가 붙는 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호텔 업무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7490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3794760"/>
            <a:ext cx="958291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예약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타입 · 기간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옵션 접수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사전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4552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4552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건강 문진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동의서 서명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4552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· 카메라 배정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보호자 링크 발송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3112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1704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투숙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1704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급식 · 산책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청소 · 순찰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1704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0264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매일 저녁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케어 메모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CareReport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자동 생성 · 발송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7416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6008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체크아웃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6008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인계 · 결제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6008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링크 만료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4568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316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316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재방문 안내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316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이력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성향 기록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1720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기록은 Stay(위탁 1건)에 묶여, 호텔 업무 단위와 PET-Aeye 데이터 단위가 같아집니다.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 배치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0020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수량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002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600200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소형 · 중형 객실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5740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86실 · 객실당 1대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05740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위탁 본체 관제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057400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대형 · 패밀리 객실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6032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26실 · 객실당 1대 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중대형 관제 · 우선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560320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라운지 · 플레이존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63239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구역당 1대 (PTZ)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063239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놀이 시간 관찰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063239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옥상 · 넓은 플레이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566159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옥상·실외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카메라 + BLE 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566159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개체 ID · 구역 체류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566159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위치 요약 · 하이라이트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복도 · 이중문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069079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출입구별 1대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069079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탈출 방지 · 보안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069079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프런트 · 스파 · 미용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571999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구역당 1대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571999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체크인 · 서비스 기록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571999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선택 노출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함께 갖출 인프라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PoE 스위치 · 녹화 스토리지 · 관제실 모니터 · 이중화 회선 · UPS · (넓은 공간) BLE 게이트웨이 PoE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넓은 공간 BLE: Minew MWB01 + MOKO MKGW1-BW — 다음 슬라이드 · 문서 PET-Aeye_넓은공간_BLE개체추적_초안.md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넓은 공간 BLE 개체 추적 — MWB01 + MKGW1-BW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544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제품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554480"/>
            <a:ext cx="6016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92807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79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목줄 태그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11679"/>
            <a:ext cx="27889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Minew MWB01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011679"/>
            <a:ext cx="601675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목줄 관통·몸쪽 밀착 실리콘 케이스 · IP67 · 개체 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5915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1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게이트웨이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50591"/>
            <a:ext cx="27889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MOKO MKGW1-BW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450591"/>
            <a:ext cx="601675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BLE 스캔 → MQTT/HTTP · PoE · 야외는 방수함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98063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889503"/>
            <a:ext cx="27889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NPU / 실외 CCTV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889503"/>
            <a:ext cx="601675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행동 · 이상행동 · 보안 녹화 (비전)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3697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28415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328415"/>
            <a:ext cx="27889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수집 · 바인딩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328415"/>
            <a:ext cx="601675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태그↔Stay 조인 · 구역 체류 · 이탈 알림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7588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le_playground_gateway_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3566160" cy="2005965"/>
          </a:xfrm>
          <a:prstGeom prst="rect">
            <a:avLst/>
          </a:prstGeom>
        </p:spPr>
      </p:pic>
      <p:pic>
        <p:nvPicPr>
          <p:cNvPr id="27" name="Picture 26" descr="ble_rooftop_gateway_pl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657600"/>
            <a:ext cx="3566160" cy="2005965"/>
          </a:xfrm>
          <a:prstGeom prst="rect">
            <a:avLst/>
          </a:prstGeom>
        </p:spPr>
      </p:pic>
      <p:pic>
        <p:nvPicPr>
          <p:cNvPr id="28" name="Picture 27" descr="ble_collar_slide_on_silicone_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00"/>
            <a:ext cx="3319272" cy="26045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0080" y="5989320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케이스 밀착형 · BOM/KPI/MQTT · v0.4 혼잡슬롯·도킹·플레이리캡 — BLE 초안.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이벤트가 생기면 누가 무엇을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PET-Aeye 신호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373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 액션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장시간 무움직임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94560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현장 확인 · 필요 시 병원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기재 · 선택 시 알림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8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과도한 반복 이동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61488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· 놀이 추가 · 성향 기록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61488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일일 리포트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28416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비인가 인원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328416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보안 점검 · 출입 기록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28416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95344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카메라 연결 끊김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95344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즉시 점검 · 대체 순찰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895344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62272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Stay 종료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462272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링크 만료 · 영상 보존 정책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462272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제공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8348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19" y="51206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알림은 정확도가 확인된 규칙부터 켭니다.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보호자에게는 스태프가 확인한 내용만 공유합니다. 규칙과 기준값은 오픈 후 30일 데이터로 조정합니다.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데이터는 Stay 하나로 연결합니다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Guardian · Pet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보호자 · 반려견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192024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7984" y="1691640"/>
            <a:ext cx="1261872" cy="82296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57984" y="169164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Stay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FFC9B3"/>
                </a:solidFill>
                <a:latin typeface="Malgun Gothic"/>
                <a:ea typeface="Malgun Gothic"/>
              </a:rPr>
              <a:t>위탁 1건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192024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169164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69164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Room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객실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192024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3792" y="169164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169164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4320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4320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PlayZone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플레이 · 루프탑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297180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57984" y="274320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57984" y="274320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BLE Tag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MWB01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297180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5887" y="274320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274320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Gateway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MKGW1-BW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59" y="297180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93792" y="2743200"/>
            <a:ext cx="1261872" cy="82296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3792" y="274320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Stay 조인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FFC9B3"/>
                </a:solidFill>
                <a:latin typeface="Malgun Gothic"/>
                <a:ea typeface="Malgun Gothic"/>
              </a:rPr>
              <a:t>동일 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9476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9476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영상 · 검출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01952" y="402336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57984" y="379476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57984" y="379476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PetEvent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행동 · 알림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9856" y="402336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5887" y="3794760"/>
            <a:ext cx="1261872" cy="82296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5887" y="379476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</a:rPr>
              <a:t>CareReport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FFC9B3"/>
                </a:solidFill>
                <a:latin typeface="Malgun Gothic"/>
                <a:ea typeface="Malgun Gothic"/>
              </a:rPr>
              <a:t>일일 요약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59" y="402336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93792" y="3794760"/>
            <a:ext cx="12618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93792" y="3794760"/>
            <a:ext cx="126187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Guardian Link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보호자 열람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983480"/>
            <a:ext cx="5760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체크인 때 카메라 트랙을, 플레이존 입장 때 BLE 태그를 같은 Stay에 연결합니다.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이후 이벤트 · 리포트 · 열람이 모두 같은 Stay에 쌓입니다.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1691640"/>
            <a:ext cx="13716" cy="42976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169164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호텔 시스템과 엮는 연동 작업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21031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예약 → Stay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예약 확정 건으로 Stay 자동 생성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272491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2816352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플레이존 BLE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입장 시 MWB01 바인딩 · 퇴장 회수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3438144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0" y="3529584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구역(Zone) 규칙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게이트 · 플레이존 · 이탈 알림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40880" y="4151376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4242816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열람 감사 로그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 · 스태프 영상 열람 기록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4864607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0" y="4956048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결제 → 옵션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안심 서비스 시 보호자 링크 활성화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557784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기능맵 요약 — P0부터 플랫폼까지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초점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8308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2792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화면 ·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79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P0 현장 관제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40279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스태프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40279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모니터 그리드 · 검출 오버레이 · 이벤트 타임라인 · PTZ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240279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관리자 웹 · /rooms /cameras /events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6207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53511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P1 보호자 안심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953511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53511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Stay 체크인/아웃 · 기간 한정 링크 · 일일 CareReport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953511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 웹 · /stays /access-token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75303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66744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P2 운영 · 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666744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운영 효율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66744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예약→Stay · Zone 규칙 · 케어 체크리스트 · 감사 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3666744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 웹훅 · /guardian/:token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8853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79976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P3 플랫폼(SaaS)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379976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다점포 · B2B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379976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멀티테넌트 · 역할 권한 · 외부 API · 사용량 과금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4379976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외부 API · 웹훅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01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코어 원칙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예약·결제 풀스택을 PET-Aeye에 다 넣지 않습니다. 코어 = 투숙 중인 반려견을 보고 · 알리고 · 요약한다. 상세: 본 문서 '기능 스펙' 편.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4 · 레이더 바이탈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보이는 안심에서, 느껴지는 안심으로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CCTV에 FMCW 레이더를 결합한 융합 센서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영상 없이 호흡 · 활동 · 수면 · 낙상을 비접촉으로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기반 기술은 확보, 융합 폼팩터는 PoC · 로드맵 항목입니다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레이더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카메라가 못 보는 곳을, 레이더가 채웁니다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578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1783080"/>
            <a:ext cx="5285232" cy="4114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 PET-Aeye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카메라 + AI 행동 검출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무엇을 하고 있는지 '봅니다'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한계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소등된 야간에는 약합니다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거리·속도 같은 물리량은 직접 못 읽습니다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 노출에 민감한 보호자가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더하는 것 · FMCW mmWave 레이더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거리·도플러 비접촉 센싱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'괜찮은 상태인지'를 느낍니다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강점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어두워도 호흡·재실 확인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도플러로 미세 움직임 포착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영상이 아닌 RF 요약 → 프라이버시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레이더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60GHz FMCW mmWave — 라이다가 아닙니다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60GHz FMCW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전파 기반 mmWave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거리·도플러·재실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mmWave 모듈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카메라 RF 창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NPU 일체형 ODM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카메라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Radar + Camera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기기→JSON 요약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비접촉 바이탈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흉곽·도플러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호흡·미동·재실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6916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4348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용어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라이다(LiDAR)=빛/레이저 3D. 레이더(Radar)=전파. PET-Aeye 바이탈은 ODM RFQ의 60GHz FMCW 레이더입니다.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바이탈은 지금 운영 기능이 아니라 PoC·로드맵으로 단계 검증합니다.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레이더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비접촉으로 읽는 개체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83080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도입 단계 · 신뢰도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호흡수 · 호흡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흉곽 미세 변위 · 도플러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높음(검증)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97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미동 · 활동량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도플러 모션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3756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RF 존재 감지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3756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수면 · 휴식 깊이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8620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호흡·미동 규칙성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8620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낙상 · 급변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43484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레이더+비전 융합 이벤트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834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심박 추정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9834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미세 진동 성분 분리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9834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 후 · 조건부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4406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의료 진단이 아니라 '웰니스·안심' 지표. 이상 소견은 수의 상담 권유. (라이다식 3D 체형 스캔은 범위 밖)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레이더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CCTV + 레이더 융합 센서 한 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291840" cy="22860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카메라 모듈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영상 · AI 행동 검출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현재 PET-Aeye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291840" cy="22860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FMCW 레이더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거리 · 도플러 · 재실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C9B3"/>
                </a:solidFill>
                <a:latin typeface="Malgun Gothic"/>
                <a:ea typeface="Malgun Gothic"/>
              </a:rPr>
              <a:t>호흡·미동·재실·낙상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920240"/>
            <a:ext cx="329184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엣지 AI 퓨전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센서 융합 → 상태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9A"/>
                </a:solidFill>
                <a:latin typeface="Malgun Gothic"/>
                <a:ea typeface="Malgun Gothic"/>
              </a:rPr>
              <a:t>멀티모달 AI SoC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709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1실 1센서 · 기존 PET-Aeye 네트워크(관제실·녹화·관리자 웹)에 바이탈 채널만 추가합니다.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우선 적용: 3F 중대형·패밀리 26실, 격리실·노령견 객실부터 단계 적용합니다.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레이더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보호자 리포트에 바이탈을 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리포트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추가 (레이더)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79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횟수·거리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시간대별 활동량 그래프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072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98648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낮잠·야간 숙면(정성)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898648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호흡수 추이 · 수면 안정도(정량)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6557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5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57015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57015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 급변 · 장시간 무미동 · 낙상 조기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239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15383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15383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메모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15383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'오늘 호흡·휴식 안정' 상태 한 줄 요약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8231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89204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50292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확장성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시니어·메디컬 케어, 야간·사각 보완, 낙상·발작 조기경보, 객실 환경 최적화, 3D 체형 기록, SaaS Vital 티어로 넓힙니다.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레이더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단계로 나눠 검증하고 상품화합니다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P0 · PoC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측정 항목·리포트 정의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1실 실증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센서 사양 확정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P1 · 단일 객실 실증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호흡·활동·재실 정확도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반려견 대상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융합 모듈 시작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P2 · 융합 폼팩터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CCTV+레이더 센서 제작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3F·격리실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현장 적용 확대</a:t>
            </a:r>
          </a:p>
        </p:txBody>
      </p:sp>
      <p:sp>
        <p:nvSpPr>
          <p:cNvPr id="22" name="Oval 21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39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P3 · 상품화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39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바이탈 CareReport 정식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SaaS Vital 티어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39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99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정식 상품 · SaaS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유의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반려견은 털·체격·품종 편차가 커 검증이 더 필요합니다. 심박은 검증 후 조건부. 의료기기 아님 — 웰니스 지표로 포지셔닝.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5 · 비즈니스 &amp;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번에 하나씩, 순서대로 켭니다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NOW 위탁 숙박 · NEXT PET-Aeye 안심 옵션 · LATER PET-Aeye SaaS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숙박에 유치원 · 미용(위탁) · 리테일 · 카페 · 이벤트를 더합니다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영종을 쇼룸으로, PET-Aeye를 다른 시설(카메라당 구독)과 가정(홈서비스)에 공급합니다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매출원은 한 번에 하나씩, 순서대로 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474720" cy="3291839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위탁 숙박 + 생활권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체중별 객실 · 유치원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미용(위탁 RS) · 리테일 · 카페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9B3"/>
                </a:solidFill>
                <a:latin typeface="Malgun Gothic"/>
                <a:ea typeface="Malgun Gothic"/>
              </a:rPr>
              <a:t>KPI  가동률 · 부문 매출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48840"/>
            <a:ext cx="3474720" cy="3611879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PET-Aeye 안심 옵션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2900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실시간 열람 + AI 리포트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1박당 부가 · VIP 객실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KPI  옵션 선택률 · 재이용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828800"/>
            <a:ext cx="3474720" cy="3931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PET-Aeye SaaS · 2차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 펫호텔·유치원 구독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B1F 데이케어 · 나동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KPI  외부 고객 · 확장 판단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부문별 연매출 — 다각화로 기준 시나리오 약 24억 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 사업부문 합계 · 매출 기준 · 비용 미반영 · 실사 전 가정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본관 호텔은 가동률 30 · 45 · 60% 기준(약 9.3 · 14.0 · 18.6억), 별관·캠퍼스는 부문 가정치입니다.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 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5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3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공격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29967"/>
            <a:ext cx="544068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14883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본관 호텔 (숙박+부가)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9.3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59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39" y="21488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18.6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42315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51459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39" y="251459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78891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88035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 미용 (위탁 RS 30%)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59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39" y="288035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15467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24611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동물병원 (위탁 입점 · 임대+제휴)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59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39" y="324611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520439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61187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59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39" y="361187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88620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397763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가든카페 · 독파크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59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39" y="3977639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25196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3434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이벤트 · 대관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59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39" y="434340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61772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70916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공항 원스톱 주차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59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39" y="470916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498348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07492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하드웨어 구독 · B2B 납품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59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0.8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39" y="507492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34924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44068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합계 (억 원)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15.2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38359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24.2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39" y="5440680"/>
            <a:ext cx="731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35.7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571500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0" y="5989320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* 미용은 위탁 RS 30% · 동물병원은 임대+제휴 · 하드웨어는 구독+B2B(양산 후) · 리테일은 매출 기준(마진 별도).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인력 · 고정비 — 안정기 기준 (실사 전 가정)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인력 규모 (FTE)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부문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4884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개업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488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안정기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41448"/>
            <a:ext cx="448056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본관 호텔 케어 (24h)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60320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62072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53512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관제 · 프런트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53512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53512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55264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46704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346704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346704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48456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39896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훈련사 (행동)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739896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위탁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9896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41648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33087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리테일 · 카페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133087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133087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34840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26279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픽업 · 시설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26279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26279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28031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919471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경영 · 지원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919471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919471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221223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312663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(명)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312663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312663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614415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24h 케어 3교대 상주 · 미용 = 위탁 · 병원 = 입점 수의사 별도.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훈련사는 개업 위탁 → 안정기 정규 1명(유치원 겸직).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1737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월 고정 · 준고정비 (만원/월)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21488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1488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월 (만원)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441448"/>
            <a:ext cx="50292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2560320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인건비 (4대보험 포함)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560320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8,450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862072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2953512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수도광열 (24h 냉난방·환기)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2953512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1,200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255264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3346704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자산 금융비 (인수 조달)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346704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3648456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3739896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사료 · 소모품 · 위생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3739896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041648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4133087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보험 · 세금 · 공과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4133087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400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434840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4526279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마케팅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4526279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700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4828031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4919471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유지보수 · 보안 · 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4919471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5221223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5312663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(월)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0" y="5312663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14,150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5614415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57607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연환산 약 17.0억 원. 금융비는 인수가 · 조달 구조 가정치.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리테일 매입 · 결제수수료 등 변동비와 위탁 정산은 별도.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타깃 고객 — 반려견을 맡아 두는 모든 시설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6032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위탁형 펫호텔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문의 응대 부담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야간 관제 인력 부족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1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1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1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유치원 · 데이케어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1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1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등원 중 보호자 확인 요구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· 사회화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1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1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동물병원 입원실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입원견 상태 관찰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면회 대체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Basic → Plus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976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1976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1976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 훈련소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1976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장기 위탁 중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훈련 진행 공유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1976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1976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첫 판매 대상은 영종과 운영 방식이 같은 위탁형 펫호텔입니다. 나머지는 파일럿 결과를 보고 순서를 정합니다.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패키지 구성 — Basic · Plus · Pro (+Vital)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74720" cy="3200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스태프 관제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카메라 등록 · 룸 매핑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룸 그리드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AI 검출 · 이벤트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녹화 · 보관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스태프 알림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474720" cy="3200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보호자 안심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Basic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관리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보호자 기간 한정 링크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일일 CareReport · 하이라이트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졸업 리포트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시설 로고 · 이름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3474720" cy="3200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다지점 ·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Plus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다지점 통합 관제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예약 API · 웹훅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권한 · 열람 감사 로그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전담 온보딩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66360"/>
            <a:ext cx="10908792" cy="8229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8523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상위 티어 VITAL — 레이더 융합 카메라 + 바이탈 리포트 번들 (PART 4, PoC 이후)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과금(안): 카메라 1대당 월 — Basic 1.5만 · Plus 2.5만 · Pro 3.0만 · Vital 4.5만 원(잠정) · VAT 별도 + 설치 · 온보딩 1회. 근거는 다음 장.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 1대당 월 구독 — 주력 Plus 2.5만 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606040" cy="12344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15,000원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공용 카메라 · 관제만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1" y="1691640"/>
            <a:ext cx="2606040" cy="123444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1" y="208483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25,000원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1" y="2560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Malgun Gothic"/>
                <a:ea typeface="Malgun Gothic"/>
              </a:rPr>
              <a:t>객실 카메라 · 보호자 안심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691640"/>
            <a:ext cx="2606040" cy="12344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08483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30,000원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60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체인 · 다지점 · 연동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976" y="1691640"/>
            <a:ext cx="2606040" cy="12344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18105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VITAL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08483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45,000원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2560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바이탈 센서 렌탈 (잠정)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00400"/>
            <a:ext cx="34747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375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원가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직접 원가 9,300원 / 대 · 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엣지 박스 감가 1,500 · 클라우드 4,000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메시지 1,000 · 원격 지원 2,300 · A/S 500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총이익률 약 63% → 규모 확대 시 65~70%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200400"/>
            <a:ext cx="34747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3375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고객 가치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61188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30실 펫호텔 = 월 84만 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11480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객실 30대 Plus + 공용 6대 Basic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안심 옵션 추가 매출 월 약 176만 원 (가정)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선택률 약 19%면 회수 — 보호자 5명 중 1명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19" y="3200400"/>
            <a:ext cx="34747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9" y="33375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시장 수준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361188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AI 분석이 가격을 만듭니다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411480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사업장 CCTV 클라우드 녹화 월 1만 원 안팎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AI 영상 분석 B2B 채널당 월 2~5만 원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·  미국 펫호텔: 보호자 라이브는 이미 표준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94960"/>
            <a:ext cx="10908792" cy="685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과금 규칙: 객실 = Plus · 공용 = Basic 혼합 · 같은 객실 두 번째 카메라 50% · 36개월 약정 기준(12개월 +10% · 무약정 +20%)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초기 설치 · 온보딩 150만 원(엣지 박스 포함) + 카메라당 3만 원 · 시설당 최소 월 30만 원 · 첫 파일럿 2~3곳 6개월 50% 할인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같은 소프트웨어, 세 가지 설치 형태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474720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영종 직영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관제실 서버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카메라 156대 (객실 116 · 공용 40)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72968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GPU 서버 2 · 앱/DB 1 · 녹화 약 160TB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03320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03904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구축 약 1.66억 원 (1.12~2.44억)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33672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34256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운영 월 약 425만 원 · 1박당 약 3,000원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64024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691640"/>
            <a:ext cx="347472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783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외부 시설 · SaaS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0574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엣지 박스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74320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GPU 소형 서버 약 350만 원 · 카메라 약 40대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172968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273552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기존 카메라 · 녹화기 그대로 재사용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03904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구독료에 렌탈 포함 · 설치비로 일부 회수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233672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334256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클라우드로 나가는 연결만 (방화벽 개방 없음)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764024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1691640"/>
            <a:ext cx="347472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7830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가정 · 홈서비스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0574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NPU 카메라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274320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AI 칩 내장 — 카메라 안에서 검출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19" y="3172968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3273552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기기 원가 약 4~14만 원 (등급별)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9" y="3703320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9" y="3803904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클라우드는 알림 · 클립 · 앱만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9" y="4233672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4334256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36개월 약정 시 기기 무료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4764024"/>
            <a:ext cx="34747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029200"/>
            <a:ext cx="10908792" cy="960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138928"/>
            <a:ext cx="10360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공통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이벤트 엔진 규칙 · 클라우드 알림 · 보호자 앱(Flutter 한 코드로 Android 우선 · iOS · Web) · 관리자 웹(React)을 함께 씁니다.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원본 영상은 현장 밖으로 나가지 않고, 보호자에게는 배정 객실 라이브와 승인된 리포트만 전달합니다.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다른 시설에 팔기 위해 갖출 제품 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멀티테넌트 · 권한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시설별 데이터 분리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운영자·매니저·스태프·보호자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온보딩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자동 검색(ONVIF)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룸 매핑 마법사 · 설치 가이드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클라우드 기본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회선 약한 시설은 엣지 장비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과금 · 계측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· Stay 사용량 집계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구독 결제 · 청구서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보안 · 개인정보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영상 열람 기록 · 보존 기간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처리위탁 계약 양식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운영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끊김 감지 · 원격 점검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무중단 업데이트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영종 운영 기간(S0)에는 단일 시설로 쓰고, 파일럿(S1)부터 멀티테넌트 구조로 전환합니다.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SaaS 로드맵과 영업 채널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오픈~6개월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S0 · 영종 내부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가동 · 원가 측정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6~12개월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S1 · 파일럿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외부 2~3곳 · 멀티테넌트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12개월~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S2 · 정식 판매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요금제 · 설치 파트너</a:t>
            </a:r>
          </a:p>
        </p:txBody>
      </p:sp>
      <p:sp>
        <p:nvSpPr>
          <p:cNvPr id="19" name="Oval 18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S3 · 채널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 연동 · 패키지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영업 채널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39" y="3931920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931920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준비물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70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직접 영업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39" y="4389120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공항 권역 펫호텔 방문, 영종 견학 · 라이브 데모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389120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데모 계정 · 운영 사례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46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5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설치 파트너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39" y="493775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CCTV 시공 업체 제휴, 설치 시 PET-Aeye 제안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93775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설치 가이드 · 수수료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8639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업계 행사 · 연동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39" y="548639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박람회 · 세미나, 예약 · 결제 플랫폼 연동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48639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소개서 · API 문서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943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가장 강한 영업 도구는 영종 현장입니다. 보호자 동의를 받은 화면만 사용합니다.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HARDWARE × B2B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바이탈 CCTV 제품화 — 리테일 데모 → 통신사 납품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기존 반려 CCTV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59" y="1783080"/>
            <a:ext cx="3840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PET-Aeye 바이탈 CCTV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332719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402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사람 · 펫 · 소리 감지 · 추적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2402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+ 비접촉 바이탈 (호흡 · 미동 · 재실)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060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센서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974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26974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+ FMCW 레이더 (폼팩터 내장)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632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79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판매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1546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설치무료 · 구독 · 약정 (검증됨)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3154679"/>
            <a:ext cx="38404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동일 모델 + 프리미엄 상위 티어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20439"/>
            <a:ext cx="10332719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제품화 3단계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14800"/>
            <a:ext cx="3474720" cy="15087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1 · 리테일 데모 · DTC 구독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별관 샵에서 실연 → 설치무료 · 구독 · 약정 자체 판매. 레퍼런스 · 바이탈 성능 데이터 · 후기 확보.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4114800"/>
            <a:ext cx="3474720" cy="1508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2 · 양산 · 인증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EMS 양산 파트너 · KC/전파 인증 · 영상 보안(통신사 요구 수준) · 소규모 양산.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18704" y="4114800"/>
            <a:ext cx="3474720" cy="1508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4251960"/>
            <a:ext cx="3063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41414"/>
                </a:solidFill>
                <a:latin typeface="Malgun Gothic"/>
                <a:ea typeface="Malgun Gothic"/>
              </a:rPr>
              <a:t>3 · B2B 납품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통신사(LG U+ 등) 화이트라벨 · ODM 또는 AI SW 레이어 공급. 동물병원 · 펫샵 체인 병행.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역할: 견주 앱 = 자체 개발 / AI · 바이탈 = PET-Aeye / 양산 = EMS 파트너.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'바이탈'은 웰니스 · 호흡 · 활동 모니터링으로 표기(비의료). 가정 영상 보안 · FMCW 성능 PoC 선행.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HOME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홈서비스 — 호텔에서 집으로 이어지는 안심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45920"/>
            <a:ext cx="4297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호텔 (B2B)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64592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홈 (B2C)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8745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AI 분석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03120"/>
            <a:ext cx="42976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관제실 서버 · 엣지 박스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103120"/>
            <a:ext cx="43251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내장 NPU (파일럿은 클라우드)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5059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42032"/>
            <a:ext cx="18745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알림 받는 사람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42032"/>
            <a:ext cx="42976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확인 → 매니저 승인 → 보호자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542032"/>
            <a:ext cx="43251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보호자가 바로 — 긴급만 즉시 · 나머지 하루 요약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89503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80944"/>
            <a:ext cx="18745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주요 이벤트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980944"/>
            <a:ext cx="42976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장시간 무움직임 · 활동 · 이탈 · 장비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980944"/>
            <a:ext cx="43251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분리불안 · 무움직임 · 밥 · 물 · 위험 구역 · 컨디션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32841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19856"/>
            <a:ext cx="187452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과금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419856"/>
            <a:ext cx="42976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시설 · 카메라 단위 월 구독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419856"/>
            <a:ext cx="43251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가구 단위 월 구독 · 36개월 약정 시 기기 무료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6732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069080"/>
            <a:ext cx="3474720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788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4348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월 6,900원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91947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AI 알림 · 하루 요약 · 클립 30일 · 해킹 보상 보험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총이익률 약 43~58% · 입구 상품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069080"/>
            <a:ext cx="3474720" cy="16002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1788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헬스 (주력)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4348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월 12,900원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91947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algun Gothic"/>
                <a:ea typeface="Malgun Gothic"/>
              </a:rPr>
              <a:t>기본 + 컨디션 신호 · 주간 리포트 · 호텔 비교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FC9B3"/>
                </a:solidFill>
                <a:latin typeface="Malgun Gothic"/>
                <a:ea typeface="Malgun Gothic"/>
              </a:rPr>
              <a:t>총이익률 약 58~66%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9" y="4069080"/>
            <a:ext cx="3474720" cy="16002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41788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바이탈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43484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월 19,900원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91947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algun Gothic"/>
                <a:ea typeface="Malgun Gothic"/>
              </a:rPr>
              <a:t>헬스 + 호흡 웰니스 · 수면 호흡 추세 (PoC 후)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9A9A9A"/>
                </a:solidFill>
                <a:latin typeface="Malgun Gothic"/>
                <a:ea typeface="Malgun Gothic"/>
              </a:rPr>
              <a:t>총이익률 약 65~70%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기본 플랜은 통신사 입문형 홈캠(월 5,500원) 근처에 두고 헬스 · 바이탈에서 수익을 냅니다. 핵심 지표: 기본 → 헬스 전환율.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호텔에 묵었던 반려견의 기준값 · 졸업 리포트를 집에서 이어 봅니다. 컨디션 · 호흡은 웰니스 참고값(비의료).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HOME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NPU 카메라 — 등급별 원가와 추진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등급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39" y="16459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AI 칩 (NPU)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79" y="164592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할 수 있는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645920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대당 원가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16002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기본형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2103120"/>
            <a:ext cx="315468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0.5~1 TOPS급 (RV1106 · T41 계열)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2103120"/>
            <a:ext cx="34290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반려견 검출 · 활동 · 무움직임 · 짖음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103120"/>
            <a:ext cx="21762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약 4~4.5만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420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33472"/>
            <a:ext cx="16002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표준형 (추천)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39" y="2633472"/>
            <a:ext cx="315468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2~3 TOPS급 (RV1126B 계열)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79" y="2633472"/>
            <a:ext cx="34290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+ 자세 기반 행동 분석 · 여러 마리 추적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33472"/>
            <a:ext cx="21762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약 7~7.7만 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7238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63824"/>
            <a:ext cx="16002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바이탈형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3163824"/>
            <a:ext cx="315468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표준형 + FMCW 모듈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3163824"/>
            <a:ext cx="34290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+ 호흡 · 미동 웰니스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163824"/>
            <a:ext cx="21762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약 10.5~14만 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0273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886200"/>
            <a:ext cx="5349240" cy="2011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초기 비용 (1회)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ODM (기존 설계 + 자체 펌웨어 · AI) — 약 3,000~7,000만 원 · 6~9개월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자체 설계 (디자인 · 금형 · 회로) — 약 2~4억 원 · 바이탈 일체형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인증 (KC 전파 · 전자파 · IoT 보안인증) — 모델당 약 1,000~3,000만 원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6B6B6B"/>
                </a:solidFill>
                <a:latin typeface="Malgun Gothic"/>
                <a:ea typeface="Malgun Gothic"/>
              </a:rPr>
              <a:t>칩 원산지는 통신사 납품 보안 심사 조건을 먼저 확인</a:t>
            </a:r>
          </a:p>
        </p:txBody>
      </p:sp>
      <p:sp>
        <p:nvSpPr>
          <p:cNvPr id="28" name="Oval 27"/>
          <p:cNvSpPr/>
          <p:nvPr/>
        </p:nvSpPr>
        <p:spPr>
          <a:xfrm>
            <a:off x="6254496" y="3941063"/>
            <a:ext cx="201168" cy="201168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8862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H0 · 파일럿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시판 카메라 + 클라우드 AI · 호텔 재방문 30~50가구</a:t>
            </a:r>
          </a:p>
        </p:txBody>
      </p:sp>
      <p:sp>
        <p:nvSpPr>
          <p:cNvPr id="30" name="Oval 29"/>
          <p:cNvSpPr/>
          <p:nvPr/>
        </p:nvSpPr>
        <p:spPr>
          <a:xfrm>
            <a:off x="6254496" y="4626864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5720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H1 · 표준형 출시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ODM 표준형 · NPU 모델 이식 · 인증 · 별관 리테일 데모</a:t>
            </a:r>
          </a:p>
        </p:txBody>
      </p:sp>
      <p:sp>
        <p:nvSpPr>
          <p:cNvPr id="32" name="Oval 31"/>
          <p:cNvSpPr/>
          <p:nvPr/>
        </p:nvSpPr>
        <p:spPr>
          <a:xfrm>
            <a:off x="6254496" y="5312664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52578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H2 · 바이탈형 · 납품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자체 설계 바이탈형 · 통신사 화이트라벨 / AI SW 공급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원가 = 부품 + 조립 · 물류 · 관세 · 불량(약 15%) · 1,000~3,000대 기준 · 환율 1,400원/달러 · 가정치(ODM 견적으로 확정). 바이탈 모듈은 자체 원가 미정.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비슷한 제품은 있지만, 반려견용 '카메라 + 비접촉 바이탈'은 아직 없습니다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64592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제품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645920"/>
            <a:ext cx="4005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0072" y="164592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바이탈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국내 AI 펫캠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03120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킨포라 (림피드 · 2026.07)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103120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21가지 행동 인식 · 5대 건강 신호 · 영양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72" y="2103120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871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78608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국내 통신사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578608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LG유플러스 홈캠 Lite (2026.09)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578608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감지 · 클라우드 · 해킹 보상 보험 · 월 5,500원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2578608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626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54096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해외 펫캠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054096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Furbo · Tapo · Petcube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054096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AI 행동 알림 · 하루 요약 · 월 약 $4~10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3054096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4381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29584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아기 모니터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529584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Momcozy BM08 · 맘아이(국내)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529584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+ mmWave · 60GHz 레이더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3529584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(아기용)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9136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05072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반려 바이탈 기기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005072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Invoxia · REx Sense · ITRI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005072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목걸이 · 센서 · 방석 (카메라 아님)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72" y="4005072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· 심박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89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80560"/>
            <a:ext cx="178308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펫호텔 B2B (미국)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480560"/>
            <a:ext cx="28803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CareCam · Animal Friends 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480560"/>
            <a:ext cx="4005072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Stay 기간 보호자 라이브 · 예약 연동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4480560"/>
            <a:ext cx="169164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없음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8646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5029200"/>
            <a:ext cx="10908792" cy="1097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138928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시사점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41414"/>
                </a:solidFill>
                <a:latin typeface="Malgun Gothic"/>
                <a:ea typeface="Malgun Gothic"/>
              </a:rPr>
              <a:t>'카메라 + 레이더'는 아기용으로 이미 있습니다. 반려견 전용 알고리즘(털 · 체격 · 품종) · 호텔 데이터 · B2B + 홈 구조로 차별화합니다.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기본 기능 가격은 통신사가 정했고(월 5,500원), 행동 건강 신호는 킨포라가 먼저 나왔습니다 → 헬스 · 바이탈 · 호텔 연계로 위치를 잡고 출시 속도를 높입니다.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GROWTH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코어 위에 올리는 3개 성장 레이어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02920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③ 프랜차이즈 · 위탁운영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5029200" cy="868680"/>
          </a:xfrm>
          <a:prstGeom prst="rect">
            <a:avLst/>
          </a:prstGeom>
          <a:solidFill>
            <a:srgbClr val="FFC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638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② 헬스데이터 · 인슈어테크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502920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966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① 멤버십 · 구독 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937760"/>
            <a:ext cx="5029200" cy="86868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7550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</a:rPr>
              <a:t>코어 · 영종 캠퍼스 × PET-Aeye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① 멤버십 · 구독 OS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전 사업을 월 구독 · 지갑 · 포인트로 통합 → LTV↑ · CAC↓.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자체 앱 + PET-Aeye 데이터 · 수익: 구독 ARPU · 교차판매 · 선결제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4612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② 헬스데이터 · 인슈어테크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바이탈 · 행동 데이터로 펫보험 제휴 · 건강 구독.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동물병원 임상 접점 · 수익: 제휴 수수료 · 데이터 · 건강 구독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48056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③ 프랜차이즈 · 위탁운영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브랜드 + SOP + PET-Aeye 패키지로 캠퍼스 복제(자본 효율).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수익: 가맹비 · 로열티 · SaaS · 물류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멤버십이 데이터 레이어의 스파인입니다. 확장 레이어는 로드맵 항목으로 연매출엔 미반영.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GROWTH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코어 검증 → 레이어를 순차로 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276856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개업~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① 멤버십 · 구독 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구독 · 지갑 · 포인트로 전 사업 통합 · 현금흐름 확보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안정기~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② 헬스데이터 · 인슈어테크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건강 스코어 · 펫보험 제휴 파일럿 (동물병원 접점)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레퍼런스 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③ 프랜차이즈 · 위탁운영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표준 패키지(브랜드 · SOP · PET-Aeye)로 2호점 · MC</a:t>
            </a:r>
          </a:p>
        </p:txBody>
      </p:sp>
      <p:sp>
        <p:nvSpPr>
          <p:cNvPr id="19" name="Oval 18"/>
          <p:cNvSpPr/>
          <p:nvPr/>
        </p:nvSpPr>
        <p:spPr>
          <a:xfrm>
            <a:off x="9006839" y="2276856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874519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6974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데이터 moat 본격화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29184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데이터 · SaaS · 인슈어테크 수익 비중 확대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63440"/>
            <a:ext cx="10908792" cy="10972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4892040"/>
            <a:ext cx="102687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순서 원칙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멤버십으로 데이터 · 현금흐름을 모으고 → 데이터로 보험 · 헬스를 수익화하고 → 검증된 모델을 복제합니다.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확장 레이어는 로드맵 항목입니다. 연매출(기준 약 24억)에는 아직 반영하지 않았습니다.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투자금은 오픈과 '보이는 안심' 가동에 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4754880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라운드 · 금액 · 지분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5B1F"/>
                </a:solidFill>
                <a:latin typeface="Malgun Gothic"/>
                <a:ea typeface="Malgun Gothic"/>
              </a:rPr>
              <a:t>TBD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411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자금 용도(안)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오픈 준비 · 초기 인력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112실 카메라 · PET-Aeye 설치 (약 1.7억)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공항 샌딩 차량 · 사전 마케팅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운전자본 · 예비비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7830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투자 후 90일 안에 보여드릴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860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그랜드 오픈 · 영업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위탁관리업 등록 완료 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03580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1546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전 객실 가동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112실 × 카메라 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90448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40233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공항 안심 보딩 첫 판매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샌딩 포함 패키지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7316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8920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5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안심 옵션 판매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유료 선택률 첫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64184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지표로 보고, 단계로 넘어갑니다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호텔 · PET-Aeye · SaaS별 핵심 지표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가설이 틀릴 수 있는 지점과 확인 방법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오픈 준비 워크스트림과 단계별 게이트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타입별 가동률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객단가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재이용률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유입 비중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부가 매출 비중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안 PET-Aeye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링크 열람률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열람률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안심 서비스 선택률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알림 정확도 (오탐률)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이벤트 대응 시간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SaaS 사업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활성 시설 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9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연결 카메라 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월 반복 매출 (MRR)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19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이탈률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19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온보딩 소요일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19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목표값은 D+30 첫 리뷰에서 실제 데이터를 보고 정합니다.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리스크와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리스크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373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대응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112실 초기 가동률 저조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94560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고정비 부담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 중대형 · 공항 패키지 우선 판매, 층별 단계 운영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알림 오탐 · 과알림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52928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피로 · 신뢰 하락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52928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검증된 규칙만 사용, 스태프 확인 후 공유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개인정보 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511296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민원 · 법적 리스크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11296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고지 · 동의, 배정 룸만 열람, 열람 기록 · 보존 기간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네트워크 · 카메라 장애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69663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관제 공백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69663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끊김 알림, 대체 순찰 SOP, 현장 녹화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레이더 바이탈 정확도 · 성숙도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828031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상품화 지연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28031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단계적 PoC로 검증, 웰니스 지표로 한정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호텔 운영과 SaaS 자원 충돌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486399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둘 다 지연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86399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S0에는 호텔 운영 우선, SaaS 기능은 S1부터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결정이 필요한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73736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선택지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73736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결정 시점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 서비스 요금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194560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기본 포함  /  1박당 부가  /  대형 · 패밀리만 포함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194560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보호자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852928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Flutter 한 코드로 링크형 웹 + 앱 (Android 우선)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852928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결정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라이브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3511296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상시 라이브  /  정해진 시간 · 하이라이트 위주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511296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보존 기간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169663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7일  /  30일  /  Stay 종료 후 일정 기간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169663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레이더 바이탈 PoC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4828031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센서 공급 · 실증 객실 범위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828031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 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SaaS 브랜드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39" y="5486399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PET-Aeye 단독  /  파우코리아 공동 표기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486399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S1 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오픈 준비 — 단계마다 확인하고 넘어갑니다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0 · 오픈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위탁관리업 등록 완료 ✓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인력 채용 · 운영 매뉴얼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112실 카메라 · PET-Aeye 설치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전 객실 관제 연결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~90일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1 · 오픈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D-30 사전 마케팅 · 제휴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그랜드 오픈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안심 보딩 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첫 안심 Stay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~6개월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2 · 정착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안심 옵션 요금화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예약 → Stay 연동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생활권 멤버십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가동률 · 재이용</a:t>
            </a:r>
          </a:p>
        </p:txBody>
      </p:sp>
      <p:sp>
        <p:nvSpPr>
          <p:cNvPr id="25" name="Oval 24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12개월+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3 ·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외부 판매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레이더 바이탈 PoC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2차 개발 여부 판단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39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외부 고객 1곳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사전 마케팅 제휴 후보: 여행사 · 카드사 · 숙박 앱 · 국내 호텔 · 반려견 훈련기관 · 관련 학과 · 지자체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참고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시설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사업계획서(구칭 리조이스 · PETEL 영종) — 객실 구성 · 평면 · 2차 계획 · 마케팅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입지 · 채널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인천국제공항공사 보도자료 2024.3 · 2024.11 (호텔링 · 펫라운지)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인천공항 영문 안내 — 호텔링 약 13kg 이하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인스파이어 리조트 이용약관 · FAQ — 반려동물 입실 불가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기술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FMCW 레이더 반도체 — 비접촉 바이탈 센싱(기반 기술 확보)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경쟁 조사 (2026.10)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킨포라 · LG유플러스 홈캠 Lite · Furbo · Momcozy · 맘아이 · Invoxia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시장 · 수요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KB금융지주 경영연구소 — 펫테크 기기 사용 이유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Grand View Horizon — South Korea Pet Boarding Services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독독 공개 요금(5.5~11만 원/박), 더우프앤·앤드 공개 정보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내부 문서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프로젝트_범위_확장_초안.md — 전체 사업 범위(펫장례 포함)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peti-mvp — PET-Aeye 구현 코드 레포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CCTV · 서버 비용 · 관제 SW 구성 · 구독 요금 · 홈서비스 기획 (doc/*.md)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요금 · 체중 기준 · 일정은 가정이며, 현장 실측과 운영 데이터로 갱신합니다. 바이탈은 PoC·로드맵 항목입니다.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