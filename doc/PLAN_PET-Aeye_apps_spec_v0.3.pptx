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APP SPEC  ·  2026.10  ·  v0.3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PET-Aeye 앱 기획서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FF5B1F"/>
                </a:solidFill>
                <a:latin typeface="Malgun Gothic"/>
                <a:ea typeface="Malgun Gothic"/>
              </a:rPr>
              <a:t>관리자 · 스태프 · 보호자 기능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Malgun Gothic"/>
                <a:ea typeface="Malgun Gothic"/>
              </a:rPr>
              <a:t>한 데이터, 세 개의 화면 — 관제는 빠르게, 현장은 한 번에, 보호자는 안심하게.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3개 표면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관리자 웹 · 스태프 앱 · 보호자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39 + 29개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핵심 · 부가 · P0~P2 우선순위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NPU 카메라 ODM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바이탈형 1,000대 · Wi-Fi+PoE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512064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넓은 공간 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66928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MWB01 + MKGW1-BW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270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63624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사용자 · 권한 · 시스템 구성 · 구성도 · 도메인 객체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476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0253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08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5740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메뉴 구성 · 관제 화면 · 기능 명세 A-01 ~ A-15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414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9631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14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스태프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551176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메뉴 구성 · 현장 화면 · 기능 명세 S-01 ~ S-12 · 알림 처리 플로우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35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9008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0837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보호자 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44952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메뉴 구성 · 안심 화면 · 기능 명세 G-01 ~ G-12 · 졸업 리포트 · 공개 정책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290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83864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021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부가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38728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공통 C-01 ~ C-14 · 표면별 A-16~ · S-13~ · G-13~ · 메뉴 점검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227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95927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공통 규칙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032503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이벤트 · 알림 정의 · 비기능 요구사항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71416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48970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릴리스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52628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MVP → P1 → P2 · 수용 기준 · KPI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91032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6519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9834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NPU 카메라 ODM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020055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바이탈형 · 브라켓 전제 웨지 · 역할 · 비용 · 일정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4041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45896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5B1F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4772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넓은 공간 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513832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MWB01 목줄 태그 · MKGW1-BW · 배치 · 체크인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8978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데이터, 세 개의 화면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사용자 역할과 권한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카메라 · 바이탈 → AI → 이벤트 → 세 화면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공통 도메인 객체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사용자 · 역할 ·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운영자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매니저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916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9164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전 객실 라이브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담당 구역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488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14884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06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9748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8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69748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154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461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이벤트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4612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24612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703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947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리포트 검수 ·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79476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열람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79476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51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3434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 수치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34340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34340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800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8920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알림 규칙 · 설정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일부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4892040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892040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5349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4406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권한 · 감사 로그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열람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440679"/>
            <a:ext cx="14630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5440679"/>
            <a:ext cx="144475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897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내용만, 배정된 객실만 보여줍니다.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시스템 구성 — 수집 → 판단 → 행동 →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651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NPU 카메라(ODM)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Wi-Fi+PoE · FMCW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이벤트·클립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828800"/>
            <a:ext cx="2560320" cy="26517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기기 내 검출·추적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서버 이벤트 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바이탈(웰니스)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828800"/>
            <a:ext cx="2560320" cy="2651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관리자 관제 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앱 알림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처리 · 케어 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5B1F"/>
                </a:solidFill>
                <a:latin typeface="Malgun Gothic"/>
                <a:ea typeface="Malgun Gothic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24544" y="1828800"/>
            <a:ext cx="2560320" cy="26517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011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971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CareReport 검수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안심 링크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졸업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908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실시간: WebSocket 관제 · 모바일 푸시 · 백엔드: Stay · Room · Camera · Event · Report · AccessLink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자격증명(RTSP 등)은 별도 보관 · 문서 · 채팅 노출 금지 · 영상 전송 암호화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관제 소프트웨어 시스템 구성도 (제안)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pic>
        <p:nvPicPr>
          <p:cNvPr id="6" name="Picture 5" descr="out_arch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17320"/>
            <a:ext cx="881149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앱 클라이언트 — Flutter 한 코드로 웹 +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패키지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5715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64592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빌드 대상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OpenAPI → Dart 클라이언트 자동 생성 · 인증 · 도메인 모델 · WebSocket · 오류 화면 · 다국어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78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ui_kit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70048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디자인 토큰 · 상태 칩 · 바이탈 바 · 라이브 플레이어(WebRTC) · 비의료 표기 컴포넌트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70048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45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3697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staff_app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36976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· 처리 · 케어 로그 · 객실 · 교대 (S-01 ~ S-17)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36976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Android 우선 · iOS ·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1246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03904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guardian_app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803904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실시간 · 리포트 · 하이라이트 · 예약 · 내 정보 (G-01 ~ G-17)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03904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Android · iOS · Web(안심 링크)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793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083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370832"/>
            <a:ext cx="57150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월 모드 대량 라이브 그리드 · MVP 화면 재사용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70832"/>
            <a:ext cx="29077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React 유지 (P1 이후 재판단)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74920"/>
            <a:ext cx="109087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Riverpod 상태 관리 · go_router 딥링크 · flutter_webrtc 라이브 · FCM 푸시 · 로컬 DB 오프라인 저장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링크(Flutter Web)는 첫 화면을 가볍게 하고 리포트 · 하이라이트는 지연 로딩 — 목표: 첫 화면 3초 이내(LTE)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공통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공통 도메인 객체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객체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주요 필드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사용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연락처 · 반려견 프로필 · 체중 · 건강 문진 · 주의사항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보호자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060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Stay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0603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체크인/아웃 · 객실 · 옵션 · 상태 · 동의서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0603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 화면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089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Room · Camera · Sensor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0895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층 · 타입 · 카메라 매핑 · 센서 · 온라인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0895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1187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61187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타입 · 시각 · 신뢰도 · 클립 · 처리 상태 · 담당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1187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233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1479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CareTask · CareLog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1479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· 배변 · 메모 · 사진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79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→ 리포트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262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1771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VitalSample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61771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미동 · 재실 · 기준값 · 편차 (웰니스)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61771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 · 보호자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291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2063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CareReport · GradReport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12063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요약 · 검수자 · 발송 / 종합 행동분석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12063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5321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623559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AccessLink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623559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토큰 · 대상 Stay · 만료 · 열람 로그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623559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035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112실을 한 화면에서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룸 그리드 관제 · AI 오버레이 · 바이탈 칩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이벤트 타임라인과 처리 이관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Stay · 링크 · 리포트 · 설정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구성 — 좌측 GNB 9개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메뉴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0020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하위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60020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권한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1 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룸 그리드 · 월 모드 · 층 / 상태 필터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057400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A-01 · A-02 · A-03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057400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048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96312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2  이벤트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496312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 큐 · 처리 이력 · 에스컬레이션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96312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496312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4378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35224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3  객실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935224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목록 · 룸 상세(라이브 · PTZ · 녹화 · 바이탈)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935224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A-05 · A-07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935224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374136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4  Stay · 보호자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374136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 / 아웃 · 문진 · 동의서 · 안심 링크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374136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A-08 · A-09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74136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216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13048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5  리포트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813048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검수 큐 · 졸업 리포트 승인 · 발송 이력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813048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813048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1605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51960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6  스태프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251960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근무표 · 층별 담당 · 인수인계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251960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251960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5994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690872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7  장비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4690872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· 룸 매핑 · 온라인 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690872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90872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0383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129784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8  통계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129784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가동률 · 대응 시간 · 오탐률 · 열람률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129784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5129784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 · 매니저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4772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568696"/>
            <a:ext cx="169164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9  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5568696"/>
            <a:ext cx="498347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규칙 · 권한 · 감사 로그 · 지점(테넌트)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5568696"/>
            <a:ext cx="196596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A-11 · A-13 · A-15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568696"/>
            <a:ext cx="171907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9161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605332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상단 고정: 통합 검색(C-03) · 알림 벨 · 월 모드 전환(A-16) · 프로필 / 로그아웃(C-01)  ·  스태프 권한은 담당 구역만 표시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관제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916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488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상단 KPI 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객실 · 재실 · 바이탈 · 카메라 · 확인 필요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78892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8803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룸 그리드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타일 라이브 · 검출 박스 · 상태 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352044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6118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바이탈 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 · 재실 · 수면 (웰니스)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25196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3434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이상 강조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확인 필요 객실 테두리 강조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98348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0749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이벤트 사이드바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우선순위 · 처리 · 로그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5715000"/>
            <a:ext cx="3657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관제 · 객실 ·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홈 · 룸 그리드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 객실 타일 라이브(4×2 / 4×4 전환) · 층 · 객실 타입 · 상태 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데스크톱 · 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AI 검출 오버레이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개체 박스 · 행동(lying/walking/sleeping) · 신뢰도 표시, 표시 on/off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상단 KPI 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 객실 · 재실 · 바이탈 채널 · 카메라 정상 · 확인 필요 카운트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 이벤트 타임라인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우선순위 정렬 · 확인 / 담당 이관 · 처리 상태 · 2초 갱신(WebSocket)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룸 상세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라이브 · PTZ · 녹화 타임라인 · 이벤트 이력 · 개체 메모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ONVIF 자동 검색 · 룸 매핑 · 온라인 상태 · 오프라인 알림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 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채널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· 미동 · 재실 추세 그래프 · 개체 기준 대비 편차 표시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55778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5778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체크인/아웃 · 룸 · 카메라 배정 · 건강 문진 · 동의서 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55778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55778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9893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144768"/>
            <a:ext cx="109087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P0 = 오픈 필수 · P1 = 오픈 후 3개월 · P2 = SaaS 확장 단계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 · 관리자 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운영 · 보안 ·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안심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발송 · 회수 · 자동 만료(체크아웃) · 열람 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 검수 · 발송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CareReport 검수 · 발송 / Stay 졸업 리포트 생성 ·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규칙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이벤트별 임계값 · 구역(Zone) · 야간 정책 · 에스컬레이션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인력 · 교대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층별 담당 · 근무표 · 미처리 알림 인수인계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권한 · 감사 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역할(운영자/매니저/스태프) · 영상 열람 기록 · 내보내기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운영 통계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가동률 · 이벤트 대응 시간 · 오탐률 · 리포트 열람률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A-15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다지점 · 테넌트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시설별 데이터 분리 · 통합 관제 · 과금 계측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알림은 위에, 처리는 한 번에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확인 필요 알림 우선 · 라이브 + 바이탈 바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현장 확인 / 정상 처리 / 이관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담당 층 할 일 · 케어 로그 · 인수인계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구성 — 하단 탭 4개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확인 필요 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상세 · 라이브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처리 액션 · 사유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32504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바이탈 확인 메모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416552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07992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오늘 할 일 요약 3건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S-02 · S-03 · S-04 · S-08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12998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5878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5878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8718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담당 구역 객실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2998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8718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객실 라이브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2998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8718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보조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12998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8718" y="4032504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QR 객실 스캔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2998" y="4416552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8718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8718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S-06 · S-10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5916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8796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8796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케어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1636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오늘 할 일 전체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5916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1636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로그 작성 · 사진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5916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1636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공유 요청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5916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1636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1636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S-05 · S-07 · S-09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58834" y="1645920"/>
            <a:ext cx="2590038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1713" y="1719072"/>
            <a:ext cx="23157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713" y="1947672"/>
            <a:ext cx="23157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더보기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4554" y="2606040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근무 시작 · 교대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58834" y="2990088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4554" y="3081528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인수인계 노트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58834" y="3465576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4554" y="3557016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58834" y="3941064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4554" y="4032504"/>
            <a:ext cx="24985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· 앱 설정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58834" y="4416552"/>
            <a:ext cx="2590038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4554" y="51206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4554" y="5394960"/>
            <a:ext cx="24985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S-01 · S-11 · S-12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상단 고정: 근무 상태 · 담당 층 · 긴급 호출(S-16) · 검색(C-03)  ·  알림 탭의 '오늘 할 일'은 요약 3건, 전체는 케어 로그 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알림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235944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16916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확인 필요 알림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가장 위 · 라이브 + 검출 박스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8892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바이탈 바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 수치 · 재실 (웰니스)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개체 맥락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분리불안 등 이력 메모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5196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1-탭 처리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현장 확인 / 정상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98348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오늘 할 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· 체크인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71500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61722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알림 · 처리 · 태스크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로그인 · 근무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교대 선택 · 담당 층 · 구역 지정 · 근무 중 상태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필요 알림 최상단 · 푸시 · 미처리 배지 · 우선순위 색상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라이브 + 오버레이 · 바이탈 바 · 개체 이력(분리불안 등) 메모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처리 액션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 / 이관 · 사유 선택 · 처리 시각 자동 기록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1-탭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오늘 할 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· 체크인 태스크 · 완료 체크 · 지연 표시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리스트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담당 구역 객실 상태 · 재실 · 알림 여부 · 라이브 진입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케어 로그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급식량 · 배변 · 산책 · 투약 · 특이사항 · 사진 첨부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바이탈 · 공유 · 교대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바이탈 확인 메모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 수치 확인 · 코멘트 · 보호자 공유 전 검수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웰니스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보호자 공유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사진 · 메모 · 클립을 CareReport 반영 요청 → 매니저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체크인 보조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연결 확인 · 룸 배정 확인 · 첫 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교대 인수인계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미처리 알림 · 특이 개체 노트 · 다음 교대 자동 전달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S-12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공지 · 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공지 · 알림음 · 방해 금지 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 · 스태프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알림 처리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395727"/>
            <a:ext cx="256032" cy="25603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수신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푸시 · 알림 홈 최상단</a:t>
            </a:r>
          </a:p>
        </p:txBody>
      </p:sp>
      <p:sp>
        <p:nvSpPr>
          <p:cNvPr id="11" name="Oval 10"/>
          <p:cNvSpPr/>
          <p:nvPr/>
        </p:nvSpPr>
        <p:spPr>
          <a:xfrm>
            <a:off x="2862072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판단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라이브 · 바이탈 · 개체 메모</a:t>
            </a:r>
          </a:p>
        </p:txBody>
      </p:sp>
      <p:sp>
        <p:nvSpPr>
          <p:cNvPr id="15" name="Oval 14"/>
          <p:cNvSpPr/>
          <p:nvPr/>
        </p:nvSpPr>
        <p:spPr>
          <a:xfrm>
            <a:off x="5084064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현장 확인 / 정상 / 이관</a:t>
            </a:r>
          </a:p>
        </p:txBody>
      </p:sp>
      <p:sp>
        <p:nvSpPr>
          <p:cNvPr id="19" name="Oval 18"/>
          <p:cNvSpPr/>
          <p:nvPr/>
        </p:nvSpPr>
        <p:spPr>
          <a:xfrm>
            <a:off x="7306056" y="2395727"/>
            <a:ext cx="256032" cy="256032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6056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사유 · 시각 · 케어 로그</a:t>
            </a:r>
          </a:p>
        </p:txBody>
      </p:sp>
      <p:sp>
        <p:nvSpPr>
          <p:cNvPr id="23" name="Oval 22"/>
          <p:cNvSpPr/>
          <p:nvPr/>
        </p:nvSpPr>
        <p:spPr>
          <a:xfrm>
            <a:off x="9528048" y="2395727"/>
            <a:ext cx="256032" cy="25603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8048" y="18745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8346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3337560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매니저 승인 시 리포트 반영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3484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처리 기준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미처리 5분 → 매니저 에스컬레이션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긴급(미검출 · 이탈) → 즉시 전 스태프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43484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 공유 원칙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원시 알림은 보호자에게 보내지 않습니다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스태프 확인 + 매니저 승인 후 리포트로만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맡기는 순간부터, 보이는 안심을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배정 객실 라이브 · 상태 헤드라인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일일 CareReport · 하이라이트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Stay 졸업 리포트 · 기간 한정 링크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구성 — 하단 탭 4개 + 내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실시간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상태 헤드라인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상태 요약 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G-02 · G-03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8414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1294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1294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4134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일일 CareReport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8414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04134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졸업 리포트(퇴실 후)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8414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4134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8414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4134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4134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G-04 · G-06 · G-07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6748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9628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9628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2468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오늘의 클립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6748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2468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저장 · 공유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6748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2468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2468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95083" y="1645920"/>
            <a:ext cx="2035454" cy="73152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7963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탭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7963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0803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정보 · 옵션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95083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0803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픽업 / 샌딩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5083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0803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문의 · 카카오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95083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0803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0803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G-08 · G-11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13417" y="1645920"/>
            <a:ext cx="2035454" cy="7315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6297" y="1719072"/>
            <a:ext cx="17611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5B1F"/>
                </a:solidFill>
                <a:latin typeface="Malgun Gothic"/>
                <a:ea typeface="Malgun Gothic"/>
              </a:rPr>
              <a:t>우상단 메뉴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6297" y="1947672"/>
            <a:ext cx="17611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내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9137" y="2606040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반려견 프로필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13417" y="2990088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9137" y="3081528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 · 개인정보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13417" y="3465576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9137" y="3557016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멤버십 · 결제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13417" y="3941064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9137" y="4032504"/>
            <a:ext cx="194401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앱 설정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13417" y="4416552"/>
            <a:ext cx="2035454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59137" y="5120640"/>
            <a:ext cx="1944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B6B6B"/>
                </a:solidFill>
                <a:latin typeface="Malgun Gothic"/>
                <a:ea typeface="Malgun Gothic"/>
              </a:rPr>
              <a:t>연결 기능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9137" y="5394960"/>
            <a:ext cx="194401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G-09 · G-10 · G-12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진입(G-01): 안심 링크(설치 없음)는 실시간 · 리포트 · 하이라이트 3개 탭만, 예약 · 내 정보는 앱 로그인 후 열립니다.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실시간 홈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pic>
        <p:nvPicPr>
          <p:cNvPr id="6" name="Picture 5" descr="out_guardian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08760"/>
            <a:ext cx="2359444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169164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화면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상태 헤드라인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"초코는 지금 편안히 쉬고 있어요"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8892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8036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배정 객실 라이브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내 반려견 방만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상태 요약 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호흡(웰니스) · 산책 · 컨디션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5196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34340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· 메모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98348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하이라이트 · 졸업 리포트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클립 · 퇴실 후 종합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715000"/>
            <a:ext cx="6858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61722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예시(목업)입니다.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① — 실시간 ·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진입 · 인증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기간 한정 안심 링크(설치 없이) 또는 앱 로그인 · 휴대폰 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실시간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라이브만 · 상태 헤드라인("편안히 쉬고 있어요")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배정 룸만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상태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호흡(웰니스) · 산책 횟수 · 컨디션 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CareReport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휴식 · 스태프 메모 · 사진 · 도착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일일 자동 클립 · 재생 · 저장 · 공유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Stay 졸업 리포트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퇴실 후 종합 행동분석 · 적응 곡선 · 하이라이트 묶음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 도착 · 체크아웃 안내 · (선택) 확인된 이상 공유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 명세 ② — 예약 · 프로필 · 동의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예약 · Stay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일정 · 객실 · 옵션 · 픽업/샌딩 · 안심 서비스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외부 예약 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반려견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기본 정보 · 건강 문진 · 주의사항 · 이전 Stay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개인정보 · 동의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영상 열람 동의 · 링크 만료 안내 · 데이터 보관 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문의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문의 · 카카오 채널 연결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멤버십 · 결제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구독 · 포인트 · 결제 이력(멤버십 OS 연계)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확장 레이어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G-06 Stay 졸업 리포트 — 상세 명세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25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700338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496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구성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데이터 · 생성 규칙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984248"/>
            <a:ext cx="5943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10312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요약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0312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투숙일수 · 총 활동량 · 수면 시간 · 산책 횟수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56032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65176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65176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일별 안정도 점수(첫날 대비) 막대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10896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20040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200400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활동 성향 · 사회성 · 분리불안 신호 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65759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74903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하이라이트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74903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이벤트 타임라인 상위 클립 3~5개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206240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429767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케어 로그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29767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투약 · 특이사항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75487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84631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스태프 코멘트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4631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담당 · 훈련사 코멘트 (검수)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530351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539495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발송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394959"/>
            <a:ext cx="37033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체크아웃 후 24시간 내 · 링크 30일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5852159"/>
            <a:ext cx="59436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 · 보호자 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안심 링크 · 공개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916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91640"/>
            <a:ext cx="2724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근거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열람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 라이브만 · 다른 객실 · 공용 구역 비노출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14884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개인정보 · 타 고객 보호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수명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4320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체크인 시 발급 · 체크아웃 시 자동 만료 · 수동 회수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4320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기간 한정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3756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휴대폰 인증 · 토큰 재발급 시 기존 토큰 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3756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도용 방지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0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 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93192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웰니스 참고값 · 스태프 확인 후 · 진단 표현 금지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93192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비의료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348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2628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52628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원시 이벤트 비발송 · 확인된 내용만 리포트로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52628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불안 · 오해 방지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292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120640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모든 열람 감사 로그 · 보관 기간 정책 고지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120640"/>
            <a:ext cx="2724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235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메뉴 밖에서 받쳐 주는 기능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공통 부가 기능 C-01 ~ C-14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관리자 · 스태프 · 보호자 표면별 부가 기능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메뉴 · 기능 점검 결과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공통 부가 기능 ① — 계정 · 검색 ·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로그인 · 계정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ID + MFA · 스태프 사번 + PIN(공용 단말 빠른 전환) · 보호자 휴대폰 인증 · 재설정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스 · 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세션 · 자동 잠금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15분 비활성 잠금(월 모드는 열람 전용 예외) · 교대 종료 시 로그아웃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통합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번호 · 반려견 이름 · 보호자 이름 / 연락처 뒤 4자리 · 이벤트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딥링크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푸시 → 알림 상세 · 안심 링크 → 실시간 · 리포트 알림 → 리포트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연결 · 오류 · 빈 상태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끊김 대체 화면 · 재연결 표시 · 빈 목록 안내 문구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약관 · 개인정보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이용약관 · 처리방침 · 동의 철회 · 탈퇴 · 약관 버전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 · 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749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507491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 설정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07491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카테고리별 on/off · 방해 금지 시간 · 알림음 · 진동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07491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507491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 · 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3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55778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오프라인 임시 저장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5778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케어 로그 · 처리 기록 로컬 큐 → 재연결 시 자동 동기화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55778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55778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9893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144768"/>
            <a:ext cx="109087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비고 = 적용 표면 (관 = 관리자 웹 · 스 = 스태프 앱 · 보 = 보호자 앱)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공통 부가 기능 ② — 공지 · 보호 · 접근성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공지 · 업데이트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시설 공지 · 강제 / 권장 업데이트 · 점검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영상 보호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열람자 · 시각 워터마크 · 다운로드 제한 · 캡처 시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화면 모드 · 접근성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다크 기본 · 글자 크기 · 상태는 색 + 아이콘 병기(색약 대응)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다국어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한 · 영 우선 → 중 · 일 (대형 리조트 외국인 고객)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도움말 · FAQ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화면별 도움말 · FAQ · 고객센터 연결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 · 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57199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C-14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57199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PDF · 내보내기 출력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57199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졸업 리포트 PDF · Stay 요약 출력 · 통계 CSV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57199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57199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 · 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· 스태프 부가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월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키오스크 전체 화면 · 층 자동 순환 · 이상 발생 타일 자동 확대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774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4688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경고음 · 데스크톱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4688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긴급 이벤트 경고음 · 브라우저 알림 · 음소거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46888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46888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889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803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28803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단축키 · 다중 모니터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8803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그리드 전환 · 다음 이벤트 · 처리 단축키 · 창 분리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88036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288036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2918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일괄 작업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2918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안심 링크 일괄 발송 · 리포트 일괄 검수 · 객실 일괄 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29184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29184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6118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7033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A-20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37033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데이터 내보내기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3703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이벤트 · 케어 로그 · 감사 로그 CSV (권한 · 기록 남김)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70332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70332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0233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14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41148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QR 객실 스캔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1148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객실 문 QR → 룸 진입 · 체크인 · 케어 로그 대상 자동 선택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411480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69880" y="411480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4348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526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4526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앱 내 촬영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45262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앱 안에서만 촬영 · 갤러리 미저장 · Stay 자동 태그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452628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452628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9377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19" y="4937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빠른 입력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49377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메모 템플릿 · 급식량 프리셋 · 음성 메모(선택)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493776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493776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2578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3492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17319" y="5349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긴급 호출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53492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원탭 매니저 / 전 스태프 호출 · 층 위치 공유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534924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69880" y="534924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5669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7607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1414"/>
                </a:solidFill>
                <a:latin typeface="Malgun Gothic"/>
                <a:ea typeface="Malgun Gothic"/>
              </a:rPr>
              <a:t>S-17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17319" y="57607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공용 단말 모드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66160" y="57607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층별 공용 기기 · PIN 전환 · 개인 데이터 미저장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8360" y="5760720"/>
            <a:ext cx="594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69880" y="5760720"/>
            <a:ext cx="941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6080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부가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상세 명세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60020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16002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0574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공동 보호자 초대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가족 1~3명 초대 · 열람 권한만 · 안심 링크와 같은 만료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05740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05740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25603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사진 · 클립 저장 · 공유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앨범 저장 · 카카오 공유(워터마크) · 다른 객실이 보이는 컷 제외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560320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560320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632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0632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카카오 알림톡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3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앱 미설치 보호자에게 리포트 도착 · 체크아웃 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06323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6323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링크 모드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35661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만족도 · 리뷰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56615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체크아웃 후 설문 · 스태프 칭찬 · NPS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56615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356615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069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G-17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19" y="4069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재예약 · 연계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69079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졸업 리포트에서 재예약 · 유치원 · 훈련 프로그램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4069079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4069079"/>
            <a:ext cx="941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확장 레이어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4805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6144768"/>
            <a:ext cx="109087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공유 · 저장 콘텐츠에도 '다른 객실 비노출' · 워터마크(C-10) 원칙을 동일하게 적용합니다.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05 · 부가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메뉴 · 기능 점검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점검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확인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39136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조치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메뉴 ↔ 기능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03120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핵심 기능 39개 모두 메뉴 또는 진입 흐름에 연결 (빌드 시 자동 검사)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03120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누락 0건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관리자 GNB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51760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목업은 관제 홈만 있고 메뉴가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좌측 GNB 9개 메뉴를 목업에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보호자 내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200400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프로필 · 동의 · 멤버십이 하단 탭에 진입점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00400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우상단 '내 정보' 메뉴로 배치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안심 링크 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74903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설치 없는 웹에서 예약 · 내 정보 사용 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74903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3개 탭만 노출 · 앱 설치 안내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7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오늘 할 일 중복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29767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스태프 알림 홈 하단과 케어 로그 탭에 모두 존재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29767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홈은 요약 3건 · 전체는 케어 로그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1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현장 안전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1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긴급 호출 · 경고음 · 월 모드가 기존 명세에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84631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S-16 · A-17 · A-16 을 P0으로 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94959"/>
            <a:ext cx="22402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앱 기본 기능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394959"/>
            <a:ext cx="4343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로그인 · 약관 · 딥링크 · 오류 화면 미정의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394959"/>
            <a:ext cx="3913631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C-01 ~ C-06 을 P0으로 추가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06 · 공통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무엇을 누구에게 언제 알리나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이벤트 · 알림 정의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06 · 공통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 · 알림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이벤트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4592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트리거 (초기값 · 30일 데이터로 조정)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64592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E1 장시간 무움직임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10312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N분 이상 정지 · 호흡 신호 동반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10312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E2 장시간 활동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265176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25분 이상 연속 이동 · 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5176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65176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E3 호흡 편차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3200400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개체 기준 대비 편차 지속 (웰니스)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00400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00400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3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E4 미검출 · 이탈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39" y="374903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객실 내 개체 미검출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4903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긴급 · 전원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4903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강조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74903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9767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E5 장비 오프라인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39" y="429767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카메라 · 센서 연결 끊김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9767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7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즉시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29767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84631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E6 케어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39" y="484631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84631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84631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로그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84631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리포트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3949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E7 소리 · 짖음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39" y="5394959"/>
            <a:ext cx="38862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지속 짖음 (옵션)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394959"/>
            <a:ext cx="132588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알림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394959"/>
            <a:ext cx="12344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타임라인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5394959"/>
            <a:ext cx="17190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확인 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06 · 공통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비기능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5897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요구사항 (목표값)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64592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측정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84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라이브 2초 이내(LAN) · 알림 도달 5초 이내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가용성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5176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관제 99.5% · 녹화 무중단 · 장비 이중화(관제실)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65176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월간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정확도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00400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오탐률 · 미탐률 지표 관리 · 임계값 30일 튜닝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200400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D+30 리뷰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4903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전송 암호화 · 관리자 MFA · 역할 기반 권한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74903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점검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7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개인정보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9767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보관 기간 정책 · 동의 기록 · 링크 만료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29767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점검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1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84631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멀티테넌트 데이터 분리 · 다지점 · 과금 계측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84631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S1~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035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94959"/>
            <a:ext cx="19659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단말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394959"/>
            <a:ext cx="58978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관리자: 데스크톱/월(React) · 스태프 · 보호자: Flutter 한 코드로 Android 우선 · iOS · Web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394959"/>
            <a:ext cx="26334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안심 링크 첫 화면 3초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8521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07 · 릴리스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오픈에 꼭 필요한 것부터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MVP → P1 → P2 단계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수용 기준 · KPI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07 · 릴리스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릴리스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36576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 D-30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MVP · 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A-01~06 관제 · 센서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S-01~07 알림 · 태스크 · 로그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G-01·02·04·10 라이브 · 리포트 · 동의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부가: C-01~06 · A-16·17 · S-14·16 · G-15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29000" cy="3657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오픈 ~ +3개월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바이탈 채널 · 메모 · 상태 필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Stay · 링크 · 리포트 검수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하이라이트 · 졸업 리포트 · 예약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부가: 알림 설정 · 오프라인 · 공동 보호자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29000" cy="36576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9659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+6개월 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4"/>
                </a:solidFill>
                <a:latin typeface="Malgun Gothic"/>
                <a:ea typeface="Malgun Gothic"/>
              </a:rP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10896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운영 통계 · 다지점 · 테넌트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문의 · 멤버십 · 결제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SaaS 온보딩 · 과금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부가: 다국어 · FAQ · PDF · 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MVP 범위는 '관제 → 처리 → 보호자 리포트' 한 바퀴가 도는 최소 단위입니다.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07 · 릴리스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수용 기준 ·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9164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기준 (오픈 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91640"/>
            <a:ext cx="38221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KPI (오픈 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관리자 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4884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전 객실 카메라 매핑 · 그리드 2초 갱신 · 이벤트 처리 이관 동작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4884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 · 오탐률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스태프 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2608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알림 5초 도달 · 1-탭 처리 기록 · 태스크 완료 체크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92608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미처리 알림 수 · 태스크 완료율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11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03320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배정 객실만 노출 · 링크 자동 만료 · 리포트 검수 후 발송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703320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링크 열람률 · 리포트 열람률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89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169164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공통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80559"/>
            <a:ext cx="4983479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감사 로그 기록 · 권한 분리 · 비의료 표기 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480559"/>
            <a:ext cx="3822191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안심 옵션 선택률 · 재이용률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663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오픈 후 D+30 리뷰에서 확정합니다. 상세 서비스 범위 · IT 툴은 별도 문서(PET-Aeye_서비스범위_IT툴_기획서_초안.md)를 따릅니다.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기기에서 추론하고, 앱은 의미만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바이탈형 단일 SKU · 1차 500 + 2차 500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브라켓 전제 · 미니 웨지 본체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역할 · 비용 · 일정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요청 개요 — 바이탈형 일체형 IP 카메라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00200"/>
            <a:ext cx="8577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057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제품 (가칭)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2057400"/>
            <a:ext cx="85770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PET-Aeye NPU Camera · Wi-Fi + 이더넷 + PoE(802.3af) 단일 제품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96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87752"/>
            <a:ext cx="2057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칩 · 추론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587752"/>
            <a:ext cx="85770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Axera AX630C(또는 동등) · 기기 내 탐지·포즈·추적 → 결과·이벤트만 서버 전송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2666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18104"/>
            <a:ext cx="2057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주력 SKU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3118104"/>
            <a:ext cx="85770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바이탈형 = NPU + 60GHz FMCW · JSON/MQTT API · 전량 동일 SKU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5701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48456"/>
            <a:ext cx="2057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수량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39" y="3648456"/>
            <a:ext cx="85770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1차 약 500대(2027 · 영종·홈) · 2차 약 500대(횡성 전) · 합 약 1,000대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873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78808"/>
            <a:ext cx="2057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샘플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39" y="4178808"/>
            <a:ext cx="85770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EVT/DVT 바이탈 20~50대 · AI · OTA · 레이더·차별 기능 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057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펌웨어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39" y="4709160"/>
            <a:ext cx="85770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OTA 필수 · AI 모델(.axmodel)은 발주처 제공 · 서명·롤백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480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39512"/>
            <a:ext cx="2057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관련 RFQ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5239512"/>
            <a:ext cx="857707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doc/PET-Aeye_NPU카메라_ODM_견적요청서_초안.md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6784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바이탈 = 웰니스 참고값(비의료). 표준형(레이더 없음)은 비교용 단가만 요청 · 발주 의무 없음.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역할 분담 — ODM ↔ 발주처(PET-Aeye)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00200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ODM (기기)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00200"/>
            <a:ext cx="4279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발주처 (우리)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하드웨어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57400"/>
            <a:ext cx="4343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미니 웨지·브라켓·셔터·레이더 · KC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57400"/>
            <a:ext cx="427939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사양·목표 단가 · BOM 승인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87752"/>
            <a:ext cx="4343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NPU 런타임 · .axmodel 로드·추론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87752"/>
            <a:ext cx="427939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학습 · Pulsar2 변환 · OTA 배포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2666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18104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설정·제어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118104"/>
            <a:ext cx="4343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수신·적용·상태 조회 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18104"/>
            <a:ext cx="427939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스키마·인증 정의 · 앱/서버 중계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5701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48456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텔레메트리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648456"/>
            <a:ext cx="4343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비전·레이더·모드 JSON → 우리 서버만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48456"/>
            <a:ext cx="427939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수집 · Stay 매핑 · 알림 문구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0873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78808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178808"/>
            <a:ext cx="4343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기기 에이전트 · 서명 검증·롤백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178808"/>
            <a:ext cx="427939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OTA 서버 · 카나리 · 키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177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09160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차별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709160"/>
            <a:ext cx="4343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모드·외출·블러·클립·폴백 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709160"/>
            <a:ext cx="427939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정책·UI · 일일 카드·그래프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1480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39512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앱·관제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239512"/>
            <a:ext cx="43434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불필요 (기기만)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239512"/>
            <a:ext cx="427939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관리자 · 스태프 · 보호자 전 화면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6784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앱이 칩을 직접 호출하지 않습니다. 설정(호텔/홈·외출·블러 등)은 전부 서버 → 기기 API.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브라켓 전제 — 벽 + 천장 겸용 마운트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8668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92807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79"/>
            <a:ext cx="196596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원칙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11679"/>
            <a:ext cx="866851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동일 본체 · 벽면·천장(면) 마운트 모두 지원 · 키트만 분기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5059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96596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본체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42032"/>
            <a:ext cx="866851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미니 웨지 · 단일 마운트 페이스 · 후면 배선 · 화면 회전(corridor)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80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72384"/>
            <a:ext cx="196596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B-Wall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72384"/>
            <a:ext cx="866851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벽 마운트 · 오픈 룸 1.4~1.7m 하향 · 룸당 1대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112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02736"/>
            <a:ext cx="196596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B-Ceiling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02736"/>
            <a:ext cx="866851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천장 면부착 · 하향 · 한 공간=한 시야일 때만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416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33087"/>
            <a:ext cx="196596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B-Gable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133087"/>
            <a:ext cx="866851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케이지 지붕 안쪽(천장형) · 칸당 1대 · 큰 구멍 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720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96596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B-Frame / Home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663440"/>
            <a:ext cx="866851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철망 클램프 · 홈은 벽 또는 천장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023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93792"/>
            <a:ext cx="196596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운용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193792"/>
            <a:ext cx="866851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브라켓 고정 · 본체만 교체 · 벽↔천장 키트 교체로 전환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6327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RFQ §3.1 · 펫호텔 권장: 오픈룸=벽 · 케이지=천장형 면부착 · 본체는 하나.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하드웨어 · 차별 기능 (펌웨어 기본 포함)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94960" cy="4434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하드웨어 (목표)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937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4MP · 1/1.8"급 저조도 · 850nm IR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Wi-Fi 6 + 유선 랜 + PoE 단일 기판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미니 웨지 + 브라켓 · 물리 셔터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60GHz FMCW · 재실·호흡·미동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온습도 · 촬영 LED · 셔터 상태 보고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RTSP(H.265) · 사람 블러 on/off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285232" cy="44348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차별 기능 §4.5 (ODM 실행)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호텔 / 홈 모드 프로필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외출 모드 + 셔터 연동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이벤트 클립 · 회선 폴백 재전송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수면·활동 시계열 필드 보고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(가산점) 홈 모드 양방향 음성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Guard·브라켓 키트 = 분리 견적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비용 ① — 대당 원가 · 목표 단가 (내부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등급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002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대당 원가 (대략)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600200"/>
            <a:ext cx="2450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16916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기본형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57400"/>
            <a:ext cx="3977639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NPU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4~4.5만원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057400"/>
            <a:ext cx="24505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비교 · 발주 안 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328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24328"/>
            <a:ext cx="16916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표준형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624328"/>
            <a:ext cx="3977639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NPU · Wi-Fi+PoE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2432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7~7.7만원 / ~10.3만원*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24328"/>
            <a:ext cx="24505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*통합형 산정용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9981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91256"/>
            <a:ext cx="16916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바이탈형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191256"/>
            <a:ext cx="3977639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표준 + 60GHz FMCW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9125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10.5~15만원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91256"/>
            <a:ext cx="24505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주력 · RFQ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667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58184"/>
            <a:ext cx="16916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RFQ 목표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758184"/>
            <a:ext cx="3977639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로트 500 · 누적 1,000대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58184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USD 85~110 / 12~15만원대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758184"/>
            <a:ext cx="245059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VAT·관세 별도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3367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60520"/>
            <a:ext cx="109087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* 영종·횡성 CAPEX 표의 NPU 통합형 대당 약 10.3만원은 Wi-Fi+PoE 기준(표준형 근처). 바이탈 전량 발주 시 대당·합계는 ODM 회신으로 갱신.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NRE(개발·금형·OTA·바이탈 API·KC·샘플)는 홈·영종·횡성이 공유 — 시설 CAPEX에서 제외하고 별도 항으로 견적.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견적 요청: 500 / 1,000 / 3,000대 단가 · OTA 포함·미포함 차액 · NRE 항목별.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비용 ② — 시설 CAPEX (카메라 중심 · NRE 제외)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시설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002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NPU 대수 (대략)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카메라·구축 합 (대략)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비고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영종 펫호텔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574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실내 150 · 실외 시중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0574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약 0.80억 (v0.4)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182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Wi-Fi 연결 · 관제 최소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횡성 펫 리조트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65176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실내 310 · 실외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5176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카메라 구성 문서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51760"/>
            <a:ext cx="3182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PoE · IT 거점·GPU 별도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54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홈서비스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구독 대수에 따름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461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대당 원가 × 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46120"/>
            <a:ext cx="3182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클라우드 OTA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1965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ODM 1·2차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84048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합 약 1,000대 바이탈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8404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대당 × 1,000 + NRE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840480"/>
            <a:ext cx="3182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동일 SKU 분할 납품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297680"/>
            <a:ext cx="109087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근거: PET-Aeye_CCTV_서버_비용산정_초안.md · 횡성펫리조트_카메라_구성_초안.md · 홈서비스_기획_초안.md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횡성 HQ IT(서버실·관제·GPU·사내 LLM 등)는 카메라 CAPEX와 별도(개관 시 약 4.3~6.0억 구간 · 문서 참고).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마스터 '약 1.7억' 서버형 숫자는 NPU 양산 확정 후 본 기준으로 교체 예정.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08 · NPU 카메라 ODM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일정 · 견적 회신 요청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마일스톤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0020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3708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산출물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EVT 샘플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5740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+8~12주 (계약 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57400"/>
            <a:ext cx="4370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바이탈 동작 · 영상·추론 · 레이더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DVT + 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603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+4~8주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560320"/>
            <a:ext cx="4370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OTA · API · 모드·블러·폴백 · 온습도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717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39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1차 양산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063239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063239"/>
            <a:ext cx="4370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바이탈 약 500대 · KC(레이더 포함)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7471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66159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2차 양산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66159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횡성 준공 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566159"/>
            <a:ext cx="4370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바이탈 약 500대 · 동일 SKU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77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109087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회신에 반드시: 회사·실적 · 사양 대비표 · §6 견적 · MOQ·결제 · 일정 · OTA 차액 · 바이탈 모듈·API · 차별 기능 · 설정 API · Longevity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발송 전: 법인·담당 · NDA · 목표 단가 대외 공개 범위 확정. 본 RFQ는 발주 확정 아님.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09 · 넓은 공간 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카메라는 행동, BLE는 개체 ID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Minew MWB01 목줄 태그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MOKO MKGW1-BW 게이트웨이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플레이그라운드 · 루프탑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09 · 넓은 공간 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왜 · 무엇 — 넓은 야외 ID 유지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554480"/>
            <a:ext cx="8759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내용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92807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79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79"/>
            <a:ext cx="875995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지상 플레이그라운드 · 옥상 루프탑은 원거리·혼잡으로 비전만으로 개체 ID 유지가 어려움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5059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542032"/>
            <a:ext cx="875995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Minew MWB01 · Φ31mm · AirTag 폼팩터 · IP67 · BLE 5.0 · 교체형 배터리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80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72384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게이트웨이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072384"/>
            <a:ext cx="875995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MOKO MKGW1-BW · BLE 스캔 → Wi-Fi/Ethernet(MQTT) · PoE · 야외는 IP65 함체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112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02736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착용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602736"/>
            <a:ext cx="875995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AirTag용 실리콘 홀더 → 강아지 목줄 클립 · 입장 지급 · 퇴장 회수·소독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416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33087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역할 분담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133087"/>
            <a:ext cx="875995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카메라=행동·이상행동 · BLE=개체·구역 체류 · 동일 Stay/pet_id 조인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720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187452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663440"/>
            <a:ext cx="8759952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doc/PET-Aeye_넓은공간_BLE개체추적_초안.md · assets/ble_tracking/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1023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앱 반영: 스태프 — 태그 바인딩·이탈 알림 · 관제 — 구역 맵 · 보호자 — 플레이 중 위치 요약(선택).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카메라 CAPEX와 별도 라인. 구역당 약 365만원 가정(태그 80 + GW 5 + 공사).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09 · 넓은 공간 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설치 배치 — 플레이그라운드 · 루프탑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pic>
        <p:nvPicPr>
          <p:cNvPr id="6" name="Picture 5" descr="ble_playground_gateway_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394960" cy="3034665"/>
          </a:xfrm>
          <a:prstGeom prst="rect">
            <a:avLst/>
          </a:prstGeom>
        </p:spPr>
      </p:pic>
      <p:pic>
        <p:nvPicPr>
          <p:cNvPr id="7" name="Picture 6" descr="ble_rooftop_gateway_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5285232" cy="29729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지상 플레이그라운드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GW 4~6대 · 실효 반경 25~35m 겹침 · 입장구 GW 필수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349240"/>
            <a:ext cx="52852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옥상 루프탑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GW 3~4대 · 방수함·차양 · PoE 유선 우선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09 · 넓은 공간 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목줄 장착 · 체크인 운영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PET-Aeye 앱 기획서  ·  기능 명세 · NPU ODM · BLE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pic>
        <p:nvPicPr>
          <p:cNvPr id="6" name="Picture 5" descr="ble_collar_silicone_airtag_ho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3840480" cy="2160270"/>
          </a:xfrm>
          <a:prstGeom prst="rect">
            <a:avLst/>
          </a:prstGeom>
        </p:spPr>
      </p:pic>
      <p:pic>
        <p:nvPicPr>
          <p:cNvPr id="7" name="Picture 6" descr="ble_checkin_collar_attach_ste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00200"/>
            <a:ext cx="6839712" cy="38473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2120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1) MWB01 → 실리콘 홀더  2) 목줄 클립  3) 앱에서 태그↔예약·개체 바인딩  4) 퇴장 시 회수·소독·보관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기능 후보: S-체크인 보조에 태그 스캔 · A-장비 관리에 GW 등록 · Stay에 ble_tag_id 필드.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